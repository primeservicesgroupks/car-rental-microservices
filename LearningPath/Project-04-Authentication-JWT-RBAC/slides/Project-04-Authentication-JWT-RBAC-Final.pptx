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8992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78BEFF"/>
                </a:solidFill>
              </a:defRPr>
            </a:pPr>
            <a:r>
              <a:t>PROJECT 4</a:t>
            </a:r>
          </a:p>
          <a:p>
            <a:pPr>
              <a:defRPr sz="3800" b="1">
                <a:solidFill>
                  <a:srgbClr val="FFFFFF"/>
                </a:solidFill>
              </a:defRPr>
            </a:pPr>
            <a:r>
              <a:t>Authentication, JWT &amp; RBAC</a:t>
            </a:r>
          </a:p>
          <a:p>
            <a:pPr>
              <a:defRPr sz="1900">
                <a:solidFill>
                  <a:srgbClr val="DCE6F0"/>
                </a:solidFill>
              </a:defRPr>
            </a:pPr>
            <a:r>
              <a:t>Secure the persistent User Service built in Projects 1–3</a:t>
            </a:r>
          </a:p>
          <a:p>
            <a:pPr>
              <a:defRPr sz="1300">
                <a:solidFill>
                  <a:srgbClr val="BECDDC"/>
                </a:solidFill>
              </a:defRPr>
            </a:pPr>
            <a:r>
              <a:t>FastAPI • PostgreSQL • SQLAlchemy • Alembic • Password Hashing • JWT • Role-Based Access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Project 4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440"/>
                </a:solidFill>
              </a:defRPr>
            </a:pPr>
            <a:r>
              <a:t>Where Project 4 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Project 1: architecture, repository foundation, health service and local workflow.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Project 2: FastAPI User Service with in-memory CRUD.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Project 3: PostgreSQL + SQLAlchemy + Alembic persistent user data.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Project 4: prove identity, issue tokens, protect routes, and enforce roles.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Project 5: Vehicle Service can then use authenticated user identity and OWNER permissions.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Project 4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440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Understand authentication vs authorization.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Never store plaintext passwords.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Hash and verify passwords using a modern password hashing library.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Create a login endpoint that verifies credentials.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Issue signed JWT access tokens with an expiration.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Read and validate Bearer tokens in protected endpoints.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Load the authenticated user from PostgreSQL.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Enforce RENTER / OWNER / ADMIN role rules.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Create an Alembic migration for the new password column.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Test 200/201, 401, 403, 404, 409 and 422 behaviors.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Project 4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440"/>
                </a:solidFill>
              </a:defRPr>
            </a:pPr>
            <a:r>
              <a:t>Authentication vs Authorization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Authentication answers: Who are you?</a:t>
            </a:r>
          </a:p>
          <a:p>
            <a:pPr lvl="1"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Example: email + password are verified, then the server issues an access token.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Authorization answers: What are you allowed to do?</a:t>
            </a:r>
          </a:p>
          <a:p>
            <a:pPr lvl="1">
              <a:spcAft>
                <a:spcPts val="1000"/>
              </a:spcAft>
              <a:defRPr sz="1600">
                <a:solidFill>
                  <a:srgbClr val="222222"/>
                </a:solidFill>
              </a:defRPr>
            </a:pPr>
            <a:r>
              <a:t>Example: an authenticated RENTER may read their profile, while OWNER/ADMIN permissions can unlock protected operations.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JWT carries signed claims; it is not a substitute for password hashing or database authorization checks.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Project 4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440"/>
                </a:solidFill>
              </a:defRPr>
            </a:pPr>
            <a:r>
              <a:t>Target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POST /auth/register → validate request → hash password → PostgreSQL users table.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POST /auth/login → find user → verify password → create signed JWT.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Protected request → Authorization: Bearer &lt;token&gt; → decode/validate JWT → load User from PostgreSQL.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RBAC dependency → inspect authenticated user's role → allow request or return 403.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Alembic remains responsible for schema changes; main.py does not call create_all().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Project 4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440"/>
                </a:solidFill>
              </a:defRPr>
            </a:pPr>
            <a:r>
              <a:t>Project 4 File Changes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app/schemas.py — registration/login/token schemas; keep UserResponse free of password fields.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app/models.py — add password_hash column to User.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app/security.py — password hashing/verification and JWT creation/decoding.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app/dependencies.py — get_current_user and role-check dependencies.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app/routers/auth.py — register/login/me endpoints.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app/main.py — include auth router; keep existing users router and health routes.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alembic/versions/... — migration that adds password_hash.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.env.example — JWT_SECRET_KEY, JWT_ALGORITHM, ACCESS_TOKEN_EXPIRE_MINUTES placeholders.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Project 4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440"/>
                </a:solidFill>
              </a:defRPr>
            </a:pPr>
            <a:r>
              <a:t>Security Rules for This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Never store or log plaintext passwords.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Never return password_hash in API responses.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Keep the real JWT secret in .env; commit only .env.example.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Use a strong password hashing algorithm through a maintained library.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Use short-lived access tokens for the learning implementation.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Validate JWT signature and expiration on every protected request.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Use 401 for missing/invalid authentication and 403 for authenticated users lacking permission.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Project 4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440"/>
                </a:solidFill>
              </a:defRPr>
            </a:pPr>
            <a:r>
              <a:t>Environment Variables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34440"/>
            <a:ext cx="10972800" cy="4480560"/>
          </a:xfrm>
          <a:prstGeom prst="roundRect">
            <a:avLst/>
          </a:prstGeom>
          <a:solidFill>
            <a:srgbClr val="F6F8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>
                <a:solidFill>
                  <a:srgbClr val="222222"/>
                </a:solidFill>
                <a:latin typeface="Consolas"/>
              </a:defRPr>
            </a:pPr>
            <a:r>
              <a:t># .env.example</a:t>
            </a:r>
            <a:br/>
            <a:r>
              <a:t>DATABASE_URL=postgresql+psycopg://car_app:local_dev_only@127.0.0.1:5433/car_rental</a:t>
            </a:r>
            <a:br/>
            <a:br/>
            <a:r>
              <a:t>JWT_SECRET_KEY=replace_with_a_long_random_local_dev_secret</a:t>
            </a:r>
            <a:br/>
            <a:r>
              <a:t>JWT_ALGORITHM=HS256</a:t>
            </a:r>
            <a:br/>
            <a:r>
              <a:t>ACCESS_TOKEN_EXPIRE_MINUTES=30</a:t>
            </a:r>
            <a:br/>
            <a:br/>
            <a:r>
              <a:t># .env contains the real local values and remains Git-ignored.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80644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Do not commit the real .env or a real production secret.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Project 4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440"/>
                </a:solidFill>
              </a:defRPr>
            </a:pPr>
            <a:r>
              <a:t>Database Change: password_hash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Add password_hash to the SQLAlchemy User model.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Generate an Alembic migration rather than creating the column manually.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Review the migration before applying it.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For an existing table, consider existing rows before making a new column NOT NULL.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Verify with alembic current and PostgreSQL \d users after upgrade.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Project 4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440"/>
                </a:solidFill>
              </a:defRPr>
            </a:pPr>
            <a:r>
              <a:t>Password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Registration receives a plaintext password only in the request.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Pydantic validates password requirements.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security.py hashes the password.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Only password_hash is written to PostgreSQL.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Login receives plaintext password and compares it to the stored hash.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A successful comparison can issue a JWT; a failed comparison returns 401.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Project 4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440"/>
                </a:solidFill>
              </a:defRPr>
            </a:pPr>
            <a:r>
              <a:t>JWT Access Token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JWT header identifies the signing algorithm.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Payload contains claims such as sub (subject/user ID) and exp (expiration).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Signature lets the API detect token tampering.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The client sends the token as: Authorization: Bearer &lt;token&gt;.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Do not put passwords or sensitive secrets inside JWT payload claims.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Project 4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440"/>
                </a:solidFill>
              </a:defRPr>
            </a:pPr>
            <a:r>
              <a:t>JWT Creation - Concept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34440"/>
            <a:ext cx="10972800" cy="4480560"/>
          </a:xfrm>
          <a:prstGeom prst="roundRect">
            <a:avLst/>
          </a:prstGeom>
          <a:solidFill>
            <a:srgbClr val="F6F8FA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>
                <a:solidFill>
                  <a:srgbClr val="222222"/>
                </a:solidFill>
                <a:latin typeface="Consolas"/>
              </a:defRPr>
            </a:pPr>
            <a:r>
              <a:t>def create_access_token(subject: str) -&gt; str:</a:t>
            </a:r>
            <a:br/>
            <a:r>
              <a:t>    expires = datetime.now(timezone.utc) + timedelta(</a:t>
            </a:r>
            <a:br/>
            <a:r>
              <a:t>        minutes=ACCESS_TOKEN_EXPIRE_MINUTES</a:t>
            </a:r>
            <a:br/>
            <a:r>
              <a:t>    )</a:t>
            </a:r>
            <a:br/>
            <a:br/>
            <a:r>
              <a:t>    payload = {</a:t>
            </a:r>
            <a:br/>
            <a:r>
              <a:t>        "sub": subject,</a:t>
            </a:r>
            <a:br/>
            <a:r>
              <a:t>        "exp": expires,</a:t>
            </a:r>
            <a:br/>
            <a:r>
              <a:t>    }</a:t>
            </a:r>
            <a:br/>
            <a:br/>
            <a:r>
              <a:t>    return jwt.encode(</a:t>
            </a:r>
            <a:br/>
            <a:r>
              <a:t>        payload,</a:t>
            </a:r>
            <a:br/>
            <a:r>
              <a:t>        JWT_SECRET_KEY,</a:t>
            </a:r>
            <a:br/>
            <a:r>
              <a:t>        algorithm=JWT_ALGORITHM,</a:t>
            </a:r>
            <a:br/>
            <a:r>
              <a:t>    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80644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Exact imports/library API should match the package version installed in the lab.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Project 4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440"/>
                </a:solidFill>
              </a:defRPr>
            </a:pPr>
            <a:r>
              <a:t>Authentication Dependency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OAuth2PasswordBearer extracts the Bearer token from the request.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Decode the JWT using the configured secret and algorithm.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Read the subject claim and reject malformed/expired tokens.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Load the user from PostgreSQL using the subject/user ID.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Return the User ORM object to protected route handlers.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Centralizing this logic avoids duplicating token validation in every endpoint.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Project 4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440"/>
                </a:solidFill>
              </a:defRPr>
            </a:pPr>
            <a:r>
              <a:t>RBAC Dependency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Authentication must happen before role authorization.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A reusable role dependency can accept one or more allowed roles.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Authenticated but unauthorized → 403 Forbidden.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Missing, invalid or expired token → 401 Unauthorized.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Start simple: OWNER and ADMIN can be allowed for owner-only operations; ADMIN can be reserved for later administrative routes.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Project 4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440"/>
                </a:solidFill>
              </a:defRPr>
            </a:pPr>
            <a:r>
              <a:t>Recommended Project 4 Endpoints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POST /auth/register — create a user with a hashed password.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POST /auth/login — verify credentials and return an access token.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GET /auth/me — return the currently authenticated user.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GET /auth/owner-test — learning-only protected endpoint for OWNER/ADMIN.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GET /health and GET /health/db — retain Project 1/3 health checks.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Existing /users CRUD can be progressively protected after authentication works.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Project 4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440"/>
                </a:solidFill>
              </a:defRPr>
            </a:pPr>
            <a:r>
              <a:t>HTTP Behavior to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201 — registration succeeds.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200 — login succeeds and protected route succeeds.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401 — bad password, missing token, invalid token, expired token.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403 — valid authenticated user does not have the required role.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409 — duplicate email.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422 — invalid email, invalid role, or schema validation failure.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Project 4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440"/>
                </a:solidFill>
              </a:defRPr>
            </a:pPr>
            <a:r>
              <a:t>Test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1. Confirm PostgreSQL healthy and Alembic at head.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2. Register a RENTER and verify no password appears in the response.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3. Inspect PostgreSQL and verify password_hash exists but plaintext password does not.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4. Login and capture the access_token.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5. Call /auth/me with Bearer token.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6. Call protected route without token → 401.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7. Call OWNER-only route with RENTER token → 403.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8. Create/use OWNER account → OWNER-only route succeeds.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9. Test wrong password, duplicate email, invalid token and expiration.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10. Restart API and confirm authentication still works with persisted user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Project 4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440"/>
                </a:solidFill>
              </a:defRPr>
            </a:pPr>
            <a:r>
              <a:t>Break/Fix 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Wrong JWT secret → existing token validation fails.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Expired token → protected endpoint returns 401.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Remove Bearer prefix → authentication fails.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Store plaintext password intentionally in a disposable branch, identify why it is unsafe, then restore correct hashing.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Forget db.rollback() after IntegrityError → observe session failure behavior.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Change role to RENTER and test an OWNER-only endpoint → expect 403.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Generate a migration but do not upgrade → compare Alembic head vs current.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Project 4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440"/>
                </a:solidFill>
              </a:defRPr>
            </a:pPr>
            <a:r>
              <a:t>Project 4 Completion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Password hashes stored; plaintext passwords never stored or returned.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Registration and login endpoints work.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JWT contains subject and expiration and is validated on protected routes.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/auth/me returns the authenticated user.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Missing/invalid/expired credentials return 401.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Role mismatch returns 403.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Alembic current equals head.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Existing Project 1–3 health and persistence tests still pass.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.env remains ignored and .env.example documents required variables.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Code, migration, notes, lab and slides committed to Git.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Project 4 |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440"/>
                </a:solidFill>
              </a:defRPr>
            </a:pPr>
            <a:r>
              <a:t>Interview / STAR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Situation: The User Service had durable PostgreSQL persistence but no identity or access controls.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Task: Add secure authentication and role-based authorization without exposing passwords or bypassing migration discipline.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Action: Added password hashing, JWT issuance/validation, FastAPI authentication dependencies, RBAC checks, schema changes through Alembic, and positive/negative security tests.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Result: The service could identify callers, protect endpoints, distinguish 401 from 403, and provide a reusable security foundation for later Vehicle and Booking services.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Project 4 |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440"/>
                </a:solidFill>
              </a:defRPr>
            </a:pPr>
            <a:r>
              <a:t>What Comes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Project 5 — Vehicle Service.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Create vehicle records owned by authenticated users.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Use OWNER/ADMIN authorization for vehicle creation and management.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Introduce service boundaries while reusing authentication concepts.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Later projects add images/S3, bookings, service communication, Redis, SQS, frontend, containers, AWS, CI/CD and Kubernetes.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Project 4 |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22644"/>
                </a:solidFill>
                <a:latin typeface="Aptos"/>
              </a:rPr>
              <a:t>Final Architecture — Authentication to Authorization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35640" y="644652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F6C7C"/>
                </a:solidFill>
                <a:latin typeface="Aptos"/>
              </a:rPr>
              <a:t>Project 4 | 22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1417320" cy="9144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2A6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453895"/>
            <a:ext cx="10881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A6FB3"/>
                </a:solidFill>
                <a:latin typeface="Aptos"/>
              </a:rPr>
              <a:t>Client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828800"/>
            <a:ext cx="1088136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ptos"/>
              </a:rPr>
              <a:t>Swagger / curl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Bearer JWT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8528" y="16276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22644"/>
                </a:solidFill>
                <a:latin typeface="Apto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0280" y="1143000"/>
            <a:ext cx="1874519" cy="12801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2A6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04872" y="1271016"/>
            <a:ext cx="1545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A6FB3"/>
                </a:solidFill>
                <a:latin typeface="Aptos"/>
              </a:rPr>
              <a:t>FastAPI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04872" y="1645920"/>
            <a:ext cx="1545336" cy="658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ptos"/>
              </a:rPr>
              <a:t>/auth/register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/auth/login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/auth/me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/users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96512" y="16276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22644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051560"/>
            <a:ext cx="1965960" cy="146304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7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179576"/>
            <a:ext cx="16367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07D5C"/>
                </a:solidFill>
                <a:latin typeface="Aptos"/>
              </a:rPr>
              <a:t>Security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554480"/>
            <a:ext cx="163677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ptos"/>
              </a:rPr>
              <a:t>Argon2 hash / verify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JWT issue / decode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OAuth2 Bearer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6276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22644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93408" y="1051560"/>
            <a:ext cx="1965960" cy="146304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2A6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179576"/>
            <a:ext cx="16367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A6FB3"/>
                </a:solidFill>
                <a:latin typeface="Aptos"/>
              </a:rPr>
              <a:t>Identity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1554480"/>
            <a:ext cx="163677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ptos"/>
              </a:rPr>
              <a:t>get_current_user()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JWT sub → User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401 on bad token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162763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22644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9408" y="1051560"/>
            <a:ext cx="2148840" cy="146304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7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1179576"/>
            <a:ext cx="1819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07D5C"/>
                </a:solidFill>
                <a:latin typeface="Aptos"/>
              </a:rPr>
              <a:t>Authorization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1554480"/>
            <a:ext cx="181965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ptos"/>
              </a:rPr>
              <a:t>require_role()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self-or-ADMIN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403 when forbidden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278892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22644"/>
                </a:solidFill>
                <a:latin typeface="Aptos"/>
              </a:rP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89320" y="3108960"/>
            <a:ext cx="2926080" cy="10515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2A6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53912" y="3236976"/>
            <a:ext cx="25968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A6FB3"/>
                </a:solidFill>
                <a:latin typeface="Aptos"/>
              </a:rPr>
              <a:t>SQLAlchemy + PostgreSQL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3912" y="3611880"/>
            <a:ext cx="2596896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ptos"/>
              </a:rPr>
              <a:t>User identity, role, email, password_hash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Alembic owns schema changes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3154680"/>
            <a:ext cx="4343400" cy="123444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B0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3282696"/>
            <a:ext cx="4014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03C3C"/>
                </a:solidFill>
                <a:latin typeface="Aptos"/>
              </a:rPr>
              <a:t>Security boundary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3657600"/>
            <a:ext cx="4014215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ptos"/>
              </a:rPr>
              <a:t>Public registration: RENTER / OWNER only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ADMIN: controlled local provisioning with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python -m scripts.provision_admin &lt;email&gt;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8006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22644"/>
                </a:solidFill>
                <a:latin typeface="Aptos"/>
              </a:rPr>
              <a:t>Core lesson: authentication proves who the caller is; authorization decides what that identity may do.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22644"/>
                </a:solidFill>
                <a:latin typeface="Aptos"/>
              </a:rPr>
              <a:t>Final Review — RBAC &amp; Ownership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35640" y="644652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F6C7C"/>
                </a:solidFill>
                <a:latin typeface="Aptos"/>
              </a:rPr>
              <a:t>Project 4 | 23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3246120" cy="34290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2A6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362456"/>
            <a:ext cx="2916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A6FB3"/>
                </a:solidFill>
                <a:latin typeface="Aptos"/>
              </a:rPr>
              <a:t>RENTER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737360"/>
            <a:ext cx="2916936" cy="2807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ptos"/>
              </a:rPr>
              <a:t>✓ Register and login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✓ GET /auth/me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✓ Read own profile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✓ Update own allowed fields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✗ GET /users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✗ Read/update another user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✗ Promote self to ADMIN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234440"/>
            <a:ext cx="3246120" cy="34290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7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5112" y="1362456"/>
            <a:ext cx="2916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07D5C"/>
                </a:solidFill>
                <a:latin typeface="Aptos"/>
              </a:rPr>
              <a:t>OWNER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5112" y="1737360"/>
            <a:ext cx="2916936" cy="2807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ptos"/>
              </a:rPr>
              <a:t>✓ Register and login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✓ GET /auth/me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✓ Read own profile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✓ Update own allowed fields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✗ GET /users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✗ Read/update another user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✗ Promote self to ADMIN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234440"/>
            <a:ext cx="3246120" cy="34290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B0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1" y="1362456"/>
            <a:ext cx="2916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03C3C"/>
                </a:solidFill>
                <a:latin typeface="Aptos"/>
              </a:rPr>
              <a:t>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9831" y="1737360"/>
            <a:ext cx="2916936" cy="2807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ptos"/>
              </a:rPr>
              <a:t>✓ Login normally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✓ GET /auth/me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✓ GET /users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✓ Read another user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✓ Update allowed fields for another user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✗ Created through public registration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983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2644"/>
                </a:solidFill>
                <a:latin typeface="Aptos"/>
              </a:rPr>
              <a:t>Same role ≠ same identity: JWT sub identifies the user; ownership checks prevent horizontal privilege escalation.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22644"/>
                </a:solidFill>
                <a:latin typeface="Aptos"/>
              </a:rPr>
              <a:t>Final Review — Automated Security Test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35640" y="644652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F6C7C"/>
                </a:solidFill>
                <a:latin typeface="Aptos"/>
              </a:rPr>
              <a:t>Project 4 | 24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2514600" cy="33375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2A6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362456"/>
            <a:ext cx="2185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A6FB3"/>
                </a:solidFill>
                <a:latin typeface="Aptos"/>
              </a:rPr>
              <a:t>Registration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737360"/>
            <a:ext cx="2185416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ptos"/>
              </a:rPr>
              <a:t>RENTER succeeds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OWNER succeeds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ADMIN rejected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Duplicate email → 409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Email normalized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Argon2 hash stored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No hash in response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234440"/>
            <a:ext cx="2514600" cy="33375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7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02152" y="1362456"/>
            <a:ext cx="2185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07D5C"/>
                </a:solidFill>
                <a:latin typeface="Aptos"/>
              </a:rPr>
              <a:t>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2152" y="1737360"/>
            <a:ext cx="2185416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ptos"/>
              </a:rPr>
              <a:t>Valid credentials → JWT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Wrong password → 401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Unknown user → 401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Case-insensitive email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No password data returned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234440"/>
            <a:ext cx="2514600" cy="33375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2A6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9631" y="1362456"/>
            <a:ext cx="2185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A6FB3"/>
                </a:solidFill>
                <a:latin typeface="Aptos"/>
              </a:rPr>
              <a:t>JWT / 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1" y="1737360"/>
            <a:ext cx="2185416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ptos"/>
              </a:rPr>
              <a:t>Valid token → /auth/me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Missing token → 401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Malformed token → 401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Expired token → 401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Missing sub → 401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Unknown subject → 401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1234440"/>
            <a:ext cx="2514600" cy="33375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B0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97112" y="1362456"/>
            <a:ext cx="2185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03C3C"/>
                </a:solidFill>
                <a:latin typeface="Aptos"/>
              </a:rPr>
              <a:t>RBAC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97112" y="1737360"/>
            <a:ext cx="2185416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ptos"/>
              </a:rPr>
              <a:t>RENTER/OWNER list → 403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ADMIN list → 200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Own profile → 200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Other profile → 403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ADMIN override → 200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Self-promotion blocked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98348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22644"/>
                </a:solidFill>
                <a:latin typeface="Aptos"/>
              </a:rPr>
              <a:t>Exit gate: run each test module, then `pytest -q`; verify pytest-* users are cleaned from PostgreSQL before the final Git checkpoint.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22644"/>
                </a:solidFill>
                <a:latin typeface="Aptos"/>
              </a:rPr>
              <a:t>Project 4 — Definition of Done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35640" y="6446520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F6C7C"/>
                </a:solidFill>
                <a:latin typeface="Aptos"/>
              </a:rPr>
              <a:t>Project 4 | 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246120" cy="35661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2A6F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316736"/>
            <a:ext cx="2916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A6FB3"/>
                </a:solidFill>
                <a:latin typeface="Aptos"/>
              </a:rPr>
              <a:t>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691640"/>
            <a:ext cx="2916936" cy="294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ptos"/>
              </a:rPr>
              <a:t>□ Plaintext passwords never stored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□ password_hash never exposed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□ JWT signature + expiration validated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□ /auth/me resolves identity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□ 401 vs 403 behavior correct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□ Self-promotion blocked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188720"/>
            <a:ext cx="3246120" cy="35661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7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5112" y="1316736"/>
            <a:ext cx="2916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07D5C"/>
                </a:solidFill>
                <a:latin typeface="Aptos"/>
              </a:rPr>
              <a:t>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5112" y="1691640"/>
            <a:ext cx="2916936" cy="294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ptos"/>
              </a:rPr>
              <a:t>□ Alembic current = head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□ PostgreSQL health check passes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□ Admin provisioning is idempotent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□ Nonexistent admin target rejected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□ Full pytest suite green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□ Clean restart still passes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188720"/>
            <a:ext cx="3246120" cy="35661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B0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54112" y="1316736"/>
            <a:ext cx="2916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03C3C"/>
                </a:solidFill>
                <a:latin typeface="Aptos"/>
              </a:rPr>
              <a:t>Delivery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4112" y="1691640"/>
            <a:ext cx="2916936" cy="294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ptos"/>
              </a:rPr>
              <a:t>□ README updated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□ Learning notes saved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□ Final review slides saved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□ .env ignored / no secrets staged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□ Git diff reviewed</a:t>
            </a:r>
            <a:br/>
            <a:r>
              <a:rPr sz="1200" b="0">
                <a:solidFill>
                  <a:srgbClr val="222222"/>
                </a:solidFill>
                <a:latin typeface="Aptos"/>
              </a:rPr>
              <a:t>□ Final Project 4 commit pushed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7492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22644"/>
                </a:solidFill>
                <a:latin typeface="Aptos"/>
              </a:rPr>
              <a:t>Next only after every box is satisfied: Project 5 — Vehicle Service.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