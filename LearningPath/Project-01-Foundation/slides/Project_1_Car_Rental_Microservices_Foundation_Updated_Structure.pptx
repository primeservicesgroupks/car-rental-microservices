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3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1069848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200" b="1">
                <a:solidFill>
                  <a:srgbClr val="FFFFFF"/>
                </a:solidFill>
              </a:defRPr>
            </a:pPr>
            <a:r>
              <a:t>Project 1</a:t>
            </a:r>
          </a:p>
          <a:p>
            <a:pPr>
              <a:defRPr sz="3000">
                <a:solidFill>
                  <a:srgbClr val="FFFFFF"/>
                </a:solidFill>
              </a:defRPr>
            </a:pPr>
            <a:r>
              <a:t>Architecture &amp; Local Development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49808" y="3246120"/>
            <a:ext cx="98755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>
                <a:solidFill>
                  <a:srgbClr val="C3D7F0"/>
                </a:solidFill>
              </a:defRPr>
            </a:pPr>
            <a:r>
              <a:t>Turo-style Car Rental Platform • Microservices Learning Series</a:t>
            </a:r>
          </a:p>
          <a:p>
            <a:pPr>
              <a:defRPr sz="1700">
                <a:solidFill>
                  <a:srgbClr val="C3D7F0"/>
                </a:solidFill>
              </a:defRPr>
            </a:pPr>
            <a:r>
              <a:t>Python • FastAPI • Git • Architecture • API Testing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Project 1 Goal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899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Build the foundation before building business microservices.</a:t>
            </a:r>
          </a:p>
          <a:p>
            <a:r>
              <a:t>Use LearningPath/ to learn each project in sequence with slides, notes and hands-on labs.</a:t>
            </a:r>
          </a:p>
          <a:p>
            <a:r>
              <a:t>Use Webapp/ for the actual car-rental application as concepts are mastered.</a:t>
            </a:r>
          </a:p>
          <a:p>
            <a:r>
              <a:t>Document the system architecture and the reason for choosing microservices.</a:t>
            </a:r>
          </a:p>
          <a:p>
            <a:r>
              <a:t>Verify Python, FastAPI, Uvicorn, Git, Swagger/OpenAPI and curl work locally.</a:t>
            </a:r>
          </a:p>
          <a:p>
            <a:r>
              <a:t>Finish with a Git checkpoint that becomes the starting point for Project 2.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What You Will Learn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899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Microservices vs. a single monolithic backend.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Service boundaries and business responsibilities.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Basic HTTP request/response flow.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Git repository organization and .gitignore.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Python virtual environments and dependency isolation.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FastAPI endpoints, Uvicorn and automatic API documentation.</a:t>
            </a:r>
          </a:p>
          <a:p>
            <a:pPr>
              <a:spcAft>
                <a:spcPts val="800"/>
              </a:spcAft>
              <a:defRPr sz="2000">
                <a:solidFill>
                  <a:srgbClr val="222222"/>
                </a:solidFill>
              </a:defRPr>
            </a:pPr>
            <a:r>
              <a:t>Health endpoints and why infrastructure uses them.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Target Application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B68B2"/>
                </a:solidFill>
              </a:defRPr>
            </a:pPr>
            <a:r>
              <a:t>This is the architecture we are working toward—not everything is built in Project 1.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92024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User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812694" y="222199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958998" y="192024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Next.js</a:t>
            </a:r>
            <a:br/>
            <a:r>
              <a:t>Frontend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948732" y="222199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095036" y="192024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API Layer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084771" y="222199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231075" y="192024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Microservices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220809" y="222199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367113" y="192024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Data /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337560"/>
            <a:ext cx="107899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Core services: User, Vehicle, Search, Booking, Payment and Notification.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Each service should have a clear responsibility and controlled interfaces.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Later: PostgreSQL, Redis, S3, SQS/EventBridge, Docker, Kubernetes and AWS.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Future AWS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96596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Internet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12694" y="226771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958998" y="196596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CloudFront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48732" y="226771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95036" y="196596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ALB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4771" y="226771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31075" y="196596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Amazon EKS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220809" y="226771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367113" y="196596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RDS / S3 /</a:t>
            </a:r>
            <a:br/>
            <a:r>
              <a:t>SQS / Redis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383280"/>
            <a:ext cx="107899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Terraform will eventually create the AWS infrastructure.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GitHub Actions will build/test containers and deploy through CI/CD.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CloudWatch, Prometheus, Grafana and OpenTelemetry will provide observability.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1 — Verify Development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789920" cy="329184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>
                <a:solidFill>
                  <a:srgbClr val="FFFFFF"/>
                </a:solidFill>
                <a:latin typeface="Consolas"/>
              </a:defRPr>
            </a:pPr>
            <a:r>
              <a:t># Critical for Project 1</a:t>
            </a:r>
            <a:br/>
            <a:r>
              <a:t>git --version</a:t>
            </a:r>
            <a:br/>
            <a:r>
              <a:t>python --version</a:t>
            </a:r>
            <a:br/>
            <a:r>
              <a:t>pip --version</a:t>
            </a:r>
            <a:br/>
            <a:br/>
            <a:r>
              <a:t># Used in later projects</a:t>
            </a:r>
            <a:br/>
            <a:r>
              <a:t>docker --version</a:t>
            </a:r>
            <a:br/>
            <a:r>
              <a:t>aws --version</a:t>
            </a:r>
            <a:br/>
            <a:r>
              <a:t>terraform --version</a:t>
            </a:r>
            <a:br/>
            <a:r>
              <a:t>kubectl version --client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07492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</a:defRPr>
            </a:pPr>
            <a:r>
              <a:t>Project 1 requires Git, Python and VS Code. Python 3.11+ is preferred.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Steps 2–4 — Create the Repository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789920" cy="393192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t># Existing repository root</a:t>
            </a:r>
          </a:p>
          <a:p>
            <a:r>
              <a:t>cd C:\Users\biome\Documents\PrimeServicesGroupKC\car-rental-microservices</a:t>
            </a:r>
          </a:p>
          <a:p/>
          <a:p>
            <a:r>
              <a:t># Confirm this is the Git repository root</a:t>
            </a:r>
          </a:p>
          <a:p>
            <a:r>
              <a:t>git rev-parse --show-toplevel</a:t>
            </a:r>
          </a:p>
          <a:p>
            <a:r>
              <a:t>git status</a:t>
            </a:r>
          </a:p>
          <a:p/>
          <a:p>
            <a:r>
              <a:t># Open the repository in VS Code</a:t>
            </a:r>
          </a:p>
          <a:p>
            <a:r>
              <a:t>code .</a:t>
            </a:r>
          </a:p>
          <a:p/>
          <a:p>
            <a:r>
              <a:t># Enter the learning path for Project 1</a:t>
            </a:r>
          </a:p>
          <a:p>
            <a:r>
              <a:t>cd LearningPath\Project-01-Foundation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864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The Git repository already exists at car-rental-microservices/. Do not run git init again inside LearningPath or Project-01-Foundation.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5 — Create the Project Structure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0789920" cy="475488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t>car-rental-microservices/</a:t>
            </a:r>
          </a:p>
          <a:p>
            <a:r>
              <a:t>├── README.md</a:t>
            </a:r>
          </a:p>
          <a:p>
            <a:r>
              <a:t>├── .gitignore</a:t>
            </a:r>
          </a:p>
          <a:p>
            <a:r>
              <a:t>├── Images/</a:t>
            </a:r>
          </a:p>
          <a:p>
            <a:r>
              <a:t>├── LearningPath/</a:t>
            </a:r>
          </a:p>
          <a:p>
            <a:r>
              <a:t>│   └── Project-01-Foundation/</a:t>
            </a:r>
          </a:p>
          <a:p>
            <a:r>
              <a:t>│       ├── README.md</a:t>
            </a:r>
          </a:p>
          <a:p>
            <a:r>
              <a:t>│       ├── labs/</a:t>
            </a:r>
          </a:p>
          <a:p>
            <a:r>
              <a:t>│       ├── notes/</a:t>
            </a:r>
          </a:p>
          <a:p>
            <a:r>
              <a:t>│       └── slides/</a:t>
            </a:r>
          </a:p>
          <a:p>
            <a:r>
              <a:t>└── Webapp/</a:t>
            </a:r>
          </a:p>
          <a:p>
            <a:r>
              <a:t>    ├── frontend/</a:t>
            </a:r>
          </a:p>
          <a:p>
            <a:r>
              <a:t>    ├── services/</a:t>
            </a:r>
          </a:p>
          <a:p>
            <a:r>
              <a:t>    ├── infrastructure/</a:t>
            </a:r>
          </a:p>
          <a:p>
            <a:r>
              <a:t>    ├── docker/</a:t>
            </a:r>
          </a:p>
          <a:p>
            <a:r>
              <a:t>    ├── scripts/</a:t>
            </a:r>
          </a:p>
          <a:p>
            <a:r>
              <a:t>    ├── docs/</a:t>
            </a:r>
          </a:p>
          <a:p>
            <a:r>
              <a:t>    └── tests/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Why These Folders Exist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899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LearningPath/ — structured training area; complete projects one at a time.</a:t>
            </a:r>
          </a:p>
          <a:p>
            <a:r>
              <a:t>Project-01-Foundation/slides/ — Project 1 presentation material.</a:t>
            </a:r>
          </a:p>
          <a:p>
            <a:r>
              <a:t>Project-01-Foundation/notes/ — explanations and personal learning notes.</a:t>
            </a:r>
          </a:p>
          <a:p>
            <a:r>
              <a:t>Project-01-Foundation/labs/ — hands-on exercises and experimental code.</a:t>
            </a:r>
          </a:p>
          <a:p>
            <a:r>
              <a:t>Webapp/ — the real application that grows as each concept is mastered.</a:t>
            </a:r>
          </a:p>
          <a:p>
            <a:r>
              <a:t>Webapp/frontend/ — future Next.js + React + TypeScript user interface.</a:t>
            </a:r>
          </a:p>
          <a:p>
            <a:r>
              <a:t>Webapp/services/ — backend microservices such as User, Vehicle and Booking.</a:t>
            </a:r>
          </a:p>
          <a:p>
            <a:r>
              <a:t>Webapp/infrastructure/ — Terraform, Kubernetes and cloud infrastructure.</a:t>
            </a:r>
          </a:p>
          <a:p>
            <a:r>
              <a:t>Images/ — shared architecture diagrams and project images.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7 — Protect the Repository with .gitignore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10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10789920" cy="493776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t># Python</a:t>
            </a:r>
          </a:p>
          <a:p>
            <a:r>
              <a:t>__pycache__/</a:t>
            </a:r>
          </a:p>
          <a:p>
            <a:r>
              <a:t>*.py[cod]</a:t>
            </a:r>
          </a:p>
          <a:p/>
          <a:p>
            <a:r>
              <a:t># Virtual environments</a:t>
            </a:r>
          </a:p>
          <a:p>
            <a:r>
              <a:t>.venv/</a:t>
            </a:r>
          </a:p>
          <a:p>
            <a:r>
              <a:t>venv/</a:t>
            </a:r>
          </a:p>
          <a:p>
            <a:r>
              <a:t>env/</a:t>
            </a:r>
          </a:p>
          <a:p/>
          <a:p>
            <a:r>
              <a:t># Secrets / environment variables</a:t>
            </a:r>
          </a:p>
          <a:p>
            <a:r>
              <a:t>.env</a:t>
            </a:r>
          </a:p>
          <a:p>
            <a:r>
              <a:t>.env.*</a:t>
            </a:r>
          </a:p>
          <a:p/>
          <a:p>
            <a:r>
              <a:t># Microsoft Office temporary lock files</a:t>
            </a:r>
          </a:p>
          <a:p>
            <a:r>
              <a:t>~$*</a:t>
            </a:r>
          </a:p>
          <a:p/>
          <a:p>
            <a:r>
              <a:t># Terraform</a:t>
            </a:r>
          </a:p>
          <a:p>
            <a:r>
              <a:t>.terraform/</a:t>
            </a:r>
          </a:p>
          <a:p>
            <a:r>
              <a:t>*.tfstate</a:t>
            </a:r>
          </a:p>
          <a:p>
            <a:r>
              <a:t>*.tfstate.*</a:t>
            </a:r>
          </a:p>
          <a:p>
            <a:r>
              <a:t>*.tfvars</a:t>
            </a:r>
          </a:p>
          <a:p/>
          <a:p>
            <a:r>
              <a:t># Node / Next.js</a:t>
            </a:r>
          </a:p>
          <a:p>
            <a:r>
              <a:t>node_modules/</a:t>
            </a:r>
          </a:p>
          <a:p>
            <a:r>
              <a:t>.next/</a:t>
            </a:r>
          </a:p>
          <a:p/>
          <a:p>
            <a:r>
              <a:t># OS / logs</a:t>
            </a:r>
          </a:p>
          <a:p>
            <a:r>
              <a:t>Thumbs.db</a:t>
            </a:r>
          </a:p>
          <a:p>
            <a:r>
              <a:t>.DS_Store</a:t>
            </a:r>
          </a:p>
          <a:p>
            <a:r>
              <a:t>*.log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Steps 8–10 — Document the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899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LearningPath/Project-01-Foundation/README.md — objectives, steps, labs and progress for Project 1.</a:t>
            </a:r>
          </a:p>
          <a:p>
            <a:r>
              <a:t>LearningPath/Project-01-Foundation/notes/ — learning notes and explanations.</a:t>
            </a:r>
          </a:p>
          <a:p>
            <a:r>
              <a:t>Webapp/README.md — explains the actual application, technology stack and current status.</a:t>
            </a:r>
          </a:p>
          <a:p>
            <a:r>
              <a:t>Webapp/docs/architecture/architecture.md — defines service responsibilities and boundaries.</a:t>
            </a:r>
          </a:p>
          <a:p>
            <a:r>
              <a:t>Webapp/docs/architecture/ADR-001-microservices.md — records why microservices were selected and the tradeoffs.</a:t>
            </a:r>
          </a:p>
          <a:p>
            <a:r>
              <a:t>Architecture Decision Records (ADRs) preserve the reasoning behind important engineering choices.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11 — Add a Platform Health Service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789920" cy="420624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t>Webapp/</a:t>
            </a:r>
          </a:p>
          <a:p>
            <a:r>
              <a:t>└── services/</a:t>
            </a:r>
          </a:p>
          <a:p>
            <a:r>
              <a:t>    └── platform-health/</a:t>
            </a:r>
          </a:p>
          <a:p>
            <a:r>
              <a:t>        ├── main.py</a:t>
            </a:r>
          </a:p>
          <a:p>
            <a:r>
              <a:t>        └── requirements.txt</a:t>
            </a:r>
          </a:p>
          <a:p/>
          <a:p>
            <a:r>
              <a:t># Purpose:</a:t>
            </a:r>
          </a:p>
          <a:p>
            <a:r>
              <a:t># First working service in the actual Webapp.</a:t>
            </a:r>
          </a:p>
          <a:p>
            <a:r>
              <a:t># Proves the local FastAPI environment works.</a:t>
            </a:r>
          </a:p>
          <a:p>
            <a:r>
              <a:t># Later, each real microservice exposes its own health endpoint.</a:t>
            </a:r>
          </a:p>
          <a:p/>
          <a:p>
            <a:r>
              <a:t># Examples:</a:t>
            </a:r>
          </a:p>
          <a:p>
            <a:r>
              <a:t># user-service/health</a:t>
            </a:r>
          </a:p>
          <a:p>
            <a:r>
              <a:t># vehicle-service/health</a:t>
            </a:r>
          </a:p>
          <a:p>
            <a:r>
              <a:t># booking-service/health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Steps 12–14 — Virtual Environment + FastAPI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0789920" cy="480060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t># From car-rental-microservices repository root</a:t>
            </a:r>
          </a:p>
          <a:p>
            <a:r>
              <a:t>cd Webapp\services\platform-health</a:t>
            </a:r>
          </a:p>
          <a:p/>
          <a:p>
            <a:r>
              <a:t># Create an isolated Python environment for this service.</a:t>
            </a:r>
          </a:p>
          <a:p>
            <a:r>
              <a:t>python -m venv .venv</a:t>
            </a:r>
          </a:p>
          <a:p/>
          <a:p>
            <a:r>
              <a:t># Activate it in PowerShell.</a:t>
            </a:r>
          </a:p>
          <a:p>
            <a:r>
              <a:t>.\.venv\Scripts\Activate.ps1</a:t>
            </a:r>
          </a:p>
          <a:p/>
          <a:p>
            <a:r>
              <a:t># Upgrade pip and install the web framework/server.</a:t>
            </a:r>
          </a:p>
          <a:p>
            <a:r>
              <a:t>python -m pip install --upgrade pip</a:t>
            </a:r>
          </a:p>
          <a:p>
            <a:r>
              <a:t>pip install fastapi uvicorn</a:t>
            </a:r>
          </a:p>
          <a:p/>
          <a:p>
            <a:r>
              <a:t># Confirm installed packages.</a:t>
            </a:r>
          </a:p>
          <a:p>
            <a:r>
              <a:t>pip list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15 — Build main.py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10972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2B68B2"/>
                </a:solidFill>
              </a:defRPr>
            </a:pPr>
            <a:r>
              <a:t>The comments explain what each part is doing.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10789920" cy="507492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t>from fastapi import FastAPI</a:t>
            </a:r>
          </a:p>
          <a:p/>
          <a:p>
            <a:r>
              <a:t># Create the FastAPI application object.</a:t>
            </a:r>
          </a:p>
          <a:p>
            <a:r>
              <a:t># Uvicorn loads this object and exposes it over HTTP.</a:t>
            </a:r>
          </a:p>
          <a:p>
            <a:r>
              <a:t>app = FastAPI(</a:t>
            </a:r>
          </a:p>
          <a:p>
            <a:r>
              <a:t>    title="Car Rental Platform Health Service",</a:t>
            </a:r>
          </a:p>
          <a:p>
            <a:r>
              <a:t>    description="Project 1 development environment test.",</a:t>
            </a:r>
          </a:p>
          <a:p>
            <a:r>
              <a:t>    version="1.0.0",</a:t>
            </a:r>
          </a:p>
          <a:p>
            <a:r>
              <a:t>)</a:t>
            </a:r>
          </a:p>
          <a:p/>
          <a:p>
            <a:r>
              <a:t># GET / proves the API itself is responding.</a:t>
            </a:r>
          </a:p>
          <a:p>
            <a:r>
              <a:t>@app.get("/")</a:t>
            </a:r>
          </a:p>
          <a:p>
            <a:r>
              <a:t>def root():</a:t>
            </a:r>
          </a:p>
          <a:p>
            <a:r>
              <a:t>    return {</a:t>
            </a:r>
          </a:p>
          <a:p>
            <a:r>
              <a:t>        "application": "car-rental-microservices",</a:t>
            </a:r>
          </a:p>
          <a:p>
            <a:r>
              <a:t>        "message": "Car Rental Platform API is running",</a:t>
            </a:r>
          </a:p>
          <a:p>
            <a:r>
              <a:t>    }</a:t>
            </a:r>
          </a:p>
          <a:p/>
          <a:p>
            <a:r>
              <a:t># GET /health proves the service is alive and responding.</a:t>
            </a:r>
          </a:p>
          <a:p>
            <a:r>
              <a:t>@app.get("/health")</a:t>
            </a:r>
          </a:p>
          <a:p>
            <a:r>
              <a:t>def health_check():</a:t>
            </a:r>
          </a:p>
          <a:p>
            <a:r>
              <a:t>    return {</a:t>
            </a:r>
          </a:p>
          <a:p>
            <a:r>
              <a:t>        "status": "healthy",</a:t>
            </a:r>
          </a:p>
          <a:p>
            <a:r>
              <a:t>        "service": "platform-health",</a:t>
            </a:r>
          </a:p>
          <a:p>
            <a:r>
              <a:t>    }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 16 — Start the API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15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00200"/>
            <a:ext cx="10789920" cy="347472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700">
                <a:solidFill>
                  <a:srgbClr val="FFFFFF"/>
                </a:solidFill>
                <a:latin typeface="Consolas"/>
              </a:defRPr>
            </a:pPr>
            <a:r>
              <a:t>uvicorn main:app --reload</a:t>
            </a:r>
            <a:br/>
            <a:br/>
            <a:r>
              <a:t># Meaning:</a:t>
            </a:r>
            <a:br/>
            <a:r>
              <a:t># uvicorn  -&gt; ASGI web server</a:t>
            </a:r>
            <a:br/>
            <a:r>
              <a:t># main     -&gt; main.py</a:t>
            </a:r>
            <a:br/>
            <a:r>
              <a:t># app      -&gt; FastAPI object named "app"</a:t>
            </a:r>
            <a:br/>
            <a:r>
              <a:t># --reload -&gt; automatically restart after code changes</a:t>
            </a:r>
            <a:br/>
            <a:br/>
            <a:r>
              <a:t># Expected:</a:t>
            </a:r>
            <a:br/>
            <a:r>
              <a:t># Uvicorn running on http://127.0.0.1:8000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0352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222222"/>
                </a:solidFill>
              </a:defRPr>
            </a:pPr>
            <a:r>
              <a:t>Keep this terminal running while testing the API.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Steps 17–18 — Test in Browser + Swagger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899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222222"/>
                </a:solidFill>
              </a:defRPr>
            </a:pPr>
            <a:r>
              <a:t>Open http://127.0.0.1:8000 — verify the root JSON response.</a:t>
            </a:r>
          </a:p>
          <a:p>
            <a:pPr>
              <a:spcAft>
                <a:spcPts val="800"/>
              </a:spcAft>
              <a:defRPr sz="1900">
                <a:solidFill>
                  <a:srgbClr val="222222"/>
                </a:solidFill>
              </a:defRPr>
            </a:pPr>
            <a:r>
              <a:t>Open http://127.0.0.1:8000/health — verify status = healthy.</a:t>
            </a:r>
          </a:p>
          <a:p>
            <a:pPr>
              <a:spcAft>
                <a:spcPts val="800"/>
              </a:spcAft>
              <a:defRPr sz="1900">
                <a:solidFill>
                  <a:srgbClr val="222222"/>
                </a:solidFill>
              </a:defRPr>
            </a:pPr>
            <a:r>
              <a:t>Open http://127.0.0.1:8000/docs — FastAPI automatically generates Swagger/OpenAPI documentation.</a:t>
            </a:r>
          </a:p>
          <a:p>
            <a:pPr>
              <a:spcAft>
                <a:spcPts val="800"/>
              </a:spcAft>
              <a:defRPr sz="1900">
                <a:solidFill>
                  <a:srgbClr val="222222"/>
                </a:solidFill>
              </a:defRPr>
            </a:pPr>
            <a:r>
              <a:t>Select GET /health → Try it out → Execute.</a:t>
            </a:r>
          </a:p>
          <a:p>
            <a:pPr>
              <a:spcAft>
                <a:spcPts val="800"/>
              </a:spcAft>
              <a:defRPr sz="1900">
                <a:solidFill>
                  <a:srgbClr val="222222"/>
                </a:solidFill>
              </a:defRPr>
            </a:pPr>
            <a:r>
              <a:t>Expected HTTP status: 200 OK.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Steps 19–21 — CLI Test + Dependencies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10789920" cy="365760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>
                <a:solidFill>
                  <a:srgbClr val="FFFFFF"/>
                </a:solidFill>
                <a:latin typeface="Consolas"/>
              </a:defRPr>
            </a:pPr>
            <a:r>
              <a:t># Test the endpoint without a browser.</a:t>
            </a:r>
            <a:br/>
            <a:r>
              <a:t>curl.exe http://127.0.0.1:8000/health</a:t>
            </a:r>
            <a:br/>
            <a:br/>
            <a:r>
              <a:t># Capture exact Python dependencies.</a:t>
            </a:r>
            <a:br/>
            <a:r>
              <a:t>pip freeze &gt; requirements.txt</a:t>
            </a:r>
            <a:br/>
            <a:br/>
            <a:r>
              <a:t># Stop Uvicorn.</a:t>
            </a:r>
            <a:br/>
            <a:r>
              <a:t>CTRL + C</a:t>
            </a:r>
            <a:br/>
            <a:br/>
            <a:r>
              <a:t># Leave the virtual environment.</a:t>
            </a:r>
            <a:br/>
            <a:r>
              <a:t>deactivate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34924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222222"/>
                </a:solidFill>
              </a:defRPr>
            </a:pPr>
            <a:r>
              <a:t>requirements.txt allows another developer or build system to recreate the Python environment.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Steps 22–23 — First Git Checkpoint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18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17320"/>
            <a:ext cx="10789920" cy="4389120"/>
          </a:xfrm>
          <a:prstGeom prst="roundRect">
            <a:avLst/>
          </a:prstGeom>
          <a:solidFill>
            <a:srgbClr val="1F2430"/>
          </a:solidFill>
          <a:ln>
            <a:solidFill>
              <a:srgbClr val="1F24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r>
              <a:t># Return to repository root from Webapp\services\platform-health</a:t>
            </a:r>
          </a:p>
          <a:p>
            <a:r>
              <a:t>cd ..\..\..</a:t>
            </a:r>
          </a:p>
          <a:p/>
          <a:p>
            <a:r>
              <a:t># Confirm repository root</a:t>
            </a:r>
          </a:p>
          <a:p>
            <a:r>
              <a:t>git rev-parse --show-toplevel</a:t>
            </a:r>
          </a:p>
          <a:p/>
          <a:p>
            <a:r>
              <a:t># Verify .venv and Office temp files are NOT being tracked.</a:t>
            </a:r>
          </a:p>
          <a:p>
            <a:r>
              <a:t>git status</a:t>
            </a:r>
          </a:p>
          <a:p/>
          <a:p>
            <a:r>
              <a:t># Stage Project 1 learning material and the Webapp foundation intentionally.</a:t>
            </a:r>
          </a:p>
          <a:p>
            <a:r>
              <a:t>git add LearningPath\Project-01-Foundation</a:t>
            </a:r>
          </a:p>
          <a:p>
            <a:r>
              <a:t>git add Webapp</a:t>
            </a:r>
          </a:p>
          <a:p>
            <a:r>
              <a:t>git add .gitignore README.md</a:t>
            </a:r>
          </a:p>
          <a:p/>
          <a:p>
            <a:r>
              <a:t># Review exactly what will be committed.</a:t>
            </a:r>
          </a:p>
          <a:p>
            <a:r>
              <a:t>git status</a:t>
            </a:r>
          </a:p>
          <a:p/>
          <a:p>
            <a:r>
              <a:t># Create the Project 1 checkpoint.</a:t>
            </a:r>
          </a:p>
          <a:p>
            <a:r>
              <a:t>git commit -m "Complete Project 01 - microservices foundation"</a:t>
            </a:r>
          </a:p>
          <a:p/>
          <a:p>
            <a:r>
              <a:t># Standardize the primary branch name.</a:t>
            </a:r>
          </a:p>
          <a:p>
            <a:r>
              <a:t>git branch -M main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Break/Fix Exercises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899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Visit /wrong-url → expect HTTP 404.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Stop Uvicorn and visit /health → expect a connection failure.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Restart Uvicorn → API should become available again.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Change health status from healthy to testing and save → --reload should restart the service automatically.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Run the request again from /docs.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Run curl.exe against /health.</a:t>
            </a:r>
          </a:p>
          <a:p>
            <a:pPr>
              <a:spcAft>
                <a:spcPts val="800"/>
              </a:spcAft>
              <a:defRPr sz="1800">
                <a:solidFill>
                  <a:srgbClr val="222222"/>
                </a:solidFill>
              </a:defRPr>
            </a:pPr>
            <a:r>
              <a:t>Run git status and explain every changed/untracked file you see.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Project 1 Completion Checklist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7899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Git, Python and VS Code work.</a:t>
            </a:r>
          </a:p>
          <a:p>
            <a:r>
              <a:t>car-rental-microservices is confirmed as the Git repository root.</a:t>
            </a:r>
          </a:p>
          <a:p>
            <a:r>
              <a:t>LearningPath/Project-01-Foundation contains slides, notes and labs.</a:t>
            </a:r>
          </a:p>
          <a:p>
            <a:r>
              <a:t>Webapp/ is separated from the learning material.</a:t>
            </a:r>
          </a:p>
          <a:p>
            <a:r>
              <a:t>.gitignore excludes virtual environments, secrets and Office temporary files.</a:t>
            </a:r>
          </a:p>
          <a:p>
            <a:r>
              <a:t>Architecture documentation and ADR exist.</a:t>
            </a:r>
          </a:p>
          <a:p>
            <a:r>
              <a:t>Virtual environment activates successfully.</a:t>
            </a:r>
          </a:p>
          <a:p>
            <a:r>
              <a:t>FastAPI and Uvicorn install successfully.</a:t>
            </a:r>
          </a:p>
          <a:p>
            <a:r>
              <a:t>/ and /health return HTTP 200.</a:t>
            </a:r>
          </a:p>
          <a:p>
            <a:r>
              <a:t>/docs works and can execute GET /health.</a:t>
            </a:r>
          </a:p>
          <a:p>
            <a:r>
              <a:t>curl.exe successfully calls the API.</a:t>
            </a:r>
          </a:p>
          <a:p>
            <a:r>
              <a:t>requirements.txt exists.</a:t>
            </a:r>
          </a:p>
          <a:p>
            <a:r>
              <a:t>Project 1 Git commit succeeds on main.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4233C"/>
                </a:solidFill>
              </a:defRPr>
            </a:pPr>
            <a:r>
              <a:t>What Comes Next — Project 2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6510528"/>
            <a:ext cx="11064240" cy="18288"/>
          </a:xfrm>
          <a:prstGeom prst="rect">
            <a:avLst/>
          </a:prstGeom>
          <a:solidFill>
            <a:srgbClr val="DCE4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881360" y="6537960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>
                <a:solidFill>
                  <a:srgbClr val="6E6E6E"/>
                </a:solidFill>
              </a:defRPr>
            </a:pPr>
            <a:r>
              <a:t>21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User Request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12694" y="213055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958998" y="182880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FastAPI Router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948732" y="213055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95036" y="182880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Pydantic Validation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084771" y="213055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231075" y="182880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User Logic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220809" y="2130552"/>
            <a:ext cx="128015" cy="292608"/>
          </a:xfrm>
          <a:prstGeom prst="rightArrow">
            <a:avLst/>
          </a:prstGeom>
          <a:solidFill>
            <a:srgbClr val="2B68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9367113" y="1828800"/>
            <a:ext cx="1971446" cy="914400"/>
          </a:xfrm>
          <a:prstGeom prst="roundRect">
            <a:avLst/>
          </a:prstGeom>
          <a:solidFill>
            <a:srgbClr val="F4F7FB"/>
          </a:solidFill>
          <a:ln>
            <a:solidFill>
              <a:srgbClr val="2B68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14233C"/>
                </a:solidFill>
              </a:defRPr>
            </a:pPr>
            <a:r>
              <a:t>Response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46120"/>
            <a:ext cx="107899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Build the first real microservice: User Service.</a:t>
            </a:r>
          </a:p>
          <a:p>
            <a:r>
              <a:t>Create the Project 2 learning material under LearningPath/Project-02-User-Service/.</a:t>
            </a:r>
          </a:p>
          <a:p>
            <a:r>
              <a:t>Implement the production-style service under Webapp/services/user-service/.</a:t>
            </a:r>
          </a:p>
          <a:p>
            <a:r>
              <a:t>Create routers, request/response schemas and validation.</a:t>
            </a:r>
          </a:p>
          <a:p>
            <a:r>
              <a:t>Learn REST endpoint design and HTTP status codes.</a:t>
            </a:r>
          </a:p>
          <a:p>
            <a:r>
              <a:t>Test with Swagger and curl before introducing PostgreSQL.</a:t>
            </a:r>
          </a:p>
          <a:p>
            <a:r>
              <a:t>Keep code heavily commented so every concept is understandable.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