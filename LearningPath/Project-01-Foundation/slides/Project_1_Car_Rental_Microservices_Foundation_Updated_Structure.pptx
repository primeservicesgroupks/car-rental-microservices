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7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Project 1</a:t>
            </a:r>
          </a:p>
          <a:p>
            <a:pPr>
              <a:defRPr sz="3000">
                <a:solidFill>
                  <a:srgbClr val="FFFFFF"/>
                </a:solidFill>
              </a:defRPr>
            </a:pPr>
            <a:r>
              <a:t>Architecture &amp; Local Development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2461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3D7F0"/>
                </a:solidFill>
              </a:defRPr>
            </a:pPr>
            <a:r>
              <a:t>Turo-style Car Rental Platform • Microservices Learning Series</a:t>
            </a:r>
          </a:p>
          <a:p>
            <a:pPr>
              <a:defRPr sz="1700">
                <a:solidFill>
                  <a:srgbClr val="C3D7F0"/>
                </a:solidFill>
              </a:defRPr>
            </a:pPr>
            <a:r>
              <a:t>Python • FastAPI • Git • Architecture • API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PROJECT 1 —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237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CDDCF0"/>
                </a:solidFill>
              </a:defRPr>
            </a:pPr>
            <a:r>
              <a:t>Microservices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658368"/>
          </a:xfrm>
          <a:prstGeom prst="roundRect">
            <a:avLst/>
          </a:prstGeom>
          <a:solidFill>
            <a:srgbClr val="F2F6FB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280160"/>
            <a:ext cx="10652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238"/>
                </a:solidFill>
              </a:defRPr>
            </a:pPr>
            <a:r>
              <a:t>GOAL  •  Build a clean local foundation before creating the real business microservices.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93392"/>
            <a:ext cx="26334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139696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8C4"/>
                </a:solidFill>
              </a:defRPr>
            </a:pPr>
            <a:r>
              <a:t>1  ORGANIZE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05456"/>
            <a:ext cx="2304288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Git repository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LearningPath + Webapp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.gitignore protection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993392"/>
            <a:ext cx="26334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11296" y="2139696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8C4"/>
                </a:solidFill>
              </a:defRPr>
            </a:pPr>
            <a:r>
              <a:t>2 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505456"/>
            <a:ext cx="2304288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Python virtual env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FastAPI application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Platform health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993392"/>
            <a:ext cx="26334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139696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8C4"/>
                </a:solidFill>
              </a:defRPr>
            </a:pPr>
            <a:r>
              <a:t>3 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05456"/>
            <a:ext cx="2304288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Uvicorn :8000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/  •  /health  •  /docs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Browser + Swagger + curl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1993392"/>
            <a:ext cx="26334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8864" y="2139696"/>
            <a:ext cx="23042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68C4"/>
                </a:solidFill>
              </a:defRPr>
            </a:pPr>
            <a:r>
              <a:t>4 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2505456"/>
            <a:ext cx="2304288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Stage intentionally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Commit to main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</a:defRPr>
            </a:pPr>
            <a:r>
              <a:t>Verify clean Git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03320"/>
            <a:ext cx="5349240" cy="2103120"/>
          </a:xfrm>
          <a:prstGeom prst="roundRect">
            <a:avLst/>
          </a:prstGeom>
          <a:solidFill>
            <a:srgbClr val="F2F6FB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8"/>
                </a:solidFill>
              </a:defRPr>
            </a:pPr>
            <a:r>
              <a:t>MENTAL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4709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A34"/>
                </a:solidFill>
              </a:defRPr>
            </a:pPr>
            <a:r>
              <a:t>• FastAPI = Python API framework</a:t>
            </a:r>
          </a:p>
          <a:p>
            <a:pPr>
              <a:spcAft>
                <a:spcPts val="500"/>
              </a:spcAft>
              <a:defRPr sz="1300">
                <a:solidFill>
                  <a:srgbClr val="232A34"/>
                </a:solidFill>
              </a:defRPr>
            </a:pPr>
            <a:r>
              <a:t>• Uvicorn = server that runs the app</a:t>
            </a:r>
          </a:p>
          <a:p>
            <a:pPr>
              <a:spcAft>
                <a:spcPts val="500"/>
              </a:spcAft>
              <a:defRPr sz="1300">
                <a:solidFill>
                  <a:srgbClr val="232A34"/>
                </a:solidFill>
              </a:defRPr>
            </a:pPr>
            <a:r>
              <a:t>• Endpoint = URL such as /health</a:t>
            </a:r>
          </a:p>
          <a:p>
            <a:pPr>
              <a:spcAft>
                <a:spcPts val="500"/>
              </a:spcAft>
              <a:defRPr sz="1300">
                <a:solidFill>
                  <a:srgbClr val="232A34"/>
                </a:solidFill>
              </a:defRPr>
            </a:pPr>
            <a:r>
              <a:t>• .venv = isolated local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232A34"/>
                </a:solidFill>
              </a:defRPr>
            </a:pPr>
            <a:r>
              <a:t>• git add → staging  |  git commit → checkpoint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703320"/>
            <a:ext cx="5577840" cy="2103120"/>
          </a:xfrm>
          <a:prstGeom prst="roundRect">
            <a:avLst/>
          </a:prstGeom>
          <a:solidFill>
            <a:srgbClr val="F9FA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238"/>
                </a:solidFill>
              </a:defRPr>
            </a:pPr>
            <a:r>
              <a:t>COMMANDS TO REMEMBER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79392"/>
            <a:ext cx="49834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Consolas"/>
              </a:defRPr>
            </a:pPr>
            <a:r>
              <a:t>source .venv/Scripts/activate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Consolas"/>
              </a:defRPr>
            </a:pPr>
            <a:r>
              <a:t>uvicorn main:app --reload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Consolas"/>
              </a:defRPr>
            </a:pPr>
            <a:r>
              <a:t>curl.exe http://127.0.0.1:8000/health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Consolas"/>
              </a:defRPr>
            </a:pPr>
            <a:r>
              <a:t>git status --ignored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Consolas"/>
              </a:defRPr>
            </a:pPr>
            <a:r>
              <a:t>git commit -m "Complete Project 01 - microservices foundation"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268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318504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 EXIT CHECK: /health = 200  •  Swagger works  •  requirements.txt exists  •  Project 1 committed on main     →     NEXT: PROJECT 2 — USER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1 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 the foundation before building business microservices.</a:t>
            </a:r>
          </a:p>
          <a:p>
            <a:r>
              <a:t>Use LearningPath/ to learn each project in sequence with slides, notes and hands-on labs.</a:t>
            </a:r>
          </a:p>
          <a:p>
            <a:r>
              <a:t>Use Webapp/ for the actual car-rental application as concepts are mastered.</a:t>
            </a:r>
          </a:p>
          <a:p>
            <a:r>
              <a:t>Document the system architecture and the reason for choosing microservices.</a:t>
            </a:r>
          </a:p>
          <a:p>
            <a:r>
              <a:t>Verify Python, FastAPI, Uvicorn, Git, Swagger/OpenAPI and curl work locally.</a:t>
            </a:r>
          </a:p>
          <a:p>
            <a:r>
              <a:t>Finish with a Git checkpoint that becomes the starting point for Project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You Will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Microservices vs. a single monolithic backend.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Service boundaries and business responsibilities.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Basic HTTP request/response flow.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Git repository organization and .gitignore.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Python virtual environments and dependency isolation.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FastAPI endpoints, Uvicorn and automatic API documentation.</a:t>
            </a:r>
          </a:p>
          <a:p>
            <a:pPr>
              <a:spcAft>
                <a:spcPts val="800"/>
              </a:spcAft>
              <a:defRPr sz="2000">
                <a:solidFill>
                  <a:srgbClr val="222222"/>
                </a:solidFill>
              </a:defRPr>
            </a:pPr>
            <a:r>
              <a:t>Health endpoints and why infrastructure uses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Target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This is the architecture we are working toward—not everything is built in Project 1.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User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12694" y="222199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58998" y="192024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Next.js</a:t>
            </a:r>
            <a:br/>
            <a:r>
              <a:t>Frontend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8732" y="222199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95036" y="192024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API Layer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84771" y="222199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31075" y="192024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Microservices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20809" y="222199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67113" y="192024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Data /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Core services: User, Vehicle, Search, Booking, Payment and Notification.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Each service should have a clear responsibility and controlled interfaces.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Later: PostgreSQL, Redis, S3, SQS/EventBridge, Docker, Kubernetes and 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Future AWS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Internet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12694" y="226771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58998" y="196596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CloudFront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48732" y="226771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95036" y="196596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ALB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4771" y="226771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31075" y="196596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Amazon EKS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20809" y="226771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67113" y="196596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RDS / S3 /</a:t>
            </a:r>
            <a:br/>
            <a:r>
              <a:t>SQS /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Terraform will eventually create the AWS infrastructure.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GitHub Actions will build/test containers and deploy through CI/CD.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CloudWatch, Prometheus, Grafana and OpenTelemetry will provide observability.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 — Verify Development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89920" cy="329184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FFFFFF"/>
                </a:solidFill>
                <a:latin typeface="Consolas"/>
              </a:defRPr>
            </a:pPr>
            <a:r>
              <a:t># Critical for Project 1</a:t>
            </a:r>
            <a:br/>
            <a:r>
              <a:t>git --version</a:t>
            </a:r>
            <a:br/>
            <a:r>
              <a:t>python --version</a:t>
            </a:r>
            <a:br/>
            <a:r>
              <a:t>pip --version</a:t>
            </a:r>
            <a:br/>
            <a:br/>
            <a:r>
              <a:t># Used in later projects</a:t>
            </a:r>
            <a:br/>
            <a:r>
              <a:t>docker --version</a:t>
            </a:r>
            <a:br/>
            <a:r>
              <a:t>aws --version</a:t>
            </a:r>
            <a:br/>
            <a:r>
              <a:t>terraform --version</a:t>
            </a:r>
            <a:br/>
            <a:r>
              <a:t>kubectl version --client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Project 1 requires Git, Python and VS Code. Python 3.11+ is preferred.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2–4 — Create the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89920" cy="39319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# Existing repository root</a:t>
            </a:r>
          </a:p>
          <a:p>
            <a:r>
              <a:t>cd C:\Users\biome\Documents\PrimeServicesGroupKC\car-rental-microservices</a:t>
            </a:r>
          </a:p>
          <a:p>
            <a:endParaRPr/>
          </a:p>
          <a:p>
            <a:r>
              <a:t># Confirm this is the Git repository root</a:t>
            </a:r>
          </a:p>
          <a:p>
            <a:r>
              <a:t>git rev-parse --show-toplevel</a:t>
            </a:r>
          </a:p>
          <a:p>
            <a:r>
              <a:t>git status</a:t>
            </a:r>
          </a:p>
          <a:p>
            <a:endParaRPr/>
          </a:p>
          <a:p>
            <a:r>
              <a:t># Open the repository in VS Code</a:t>
            </a:r>
          </a:p>
          <a:p>
            <a:r>
              <a:t>code .</a:t>
            </a:r>
          </a:p>
          <a:p>
            <a:endParaRPr/>
          </a:p>
          <a:p>
            <a:r>
              <a:t># Enter the learning path for Project 1</a:t>
            </a:r>
          </a:p>
          <a:p>
            <a:r>
              <a:t>cd LearningPath\Project-01-Foundation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Git repository already exists at car-rental-microservices/. Do not run git init again inside LearningPath or Project-01-Foundation.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5 — Create the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75488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car-rental-microservices/</a:t>
            </a:r>
          </a:p>
          <a:p>
            <a:r>
              <a:t>├── README.md</a:t>
            </a:r>
          </a:p>
          <a:p>
            <a:r>
              <a:t>├── .gitignore</a:t>
            </a:r>
          </a:p>
          <a:p>
            <a:r>
              <a:t>├── Images/</a:t>
            </a:r>
          </a:p>
          <a:p>
            <a:r>
              <a:t>├── LearningPath/</a:t>
            </a:r>
          </a:p>
          <a:p>
            <a:r>
              <a:t>│   └── Project-01-Foundation/</a:t>
            </a:r>
          </a:p>
          <a:p>
            <a:r>
              <a:t>│       ├── README.md</a:t>
            </a:r>
          </a:p>
          <a:p>
            <a:r>
              <a:t>│       ├── labs/</a:t>
            </a:r>
          </a:p>
          <a:p>
            <a:r>
              <a:t>│       ├── notes/</a:t>
            </a:r>
          </a:p>
          <a:p>
            <a:r>
              <a:t>│       └── slides/</a:t>
            </a:r>
          </a:p>
          <a:p>
            <a:r>
              <a:t>└── Webapp/</a:t>
            </a:r>
          </a:p>
          <a:p>
            <a:r>
              <a:t>    ├── frontend/</a:t>
            </a:r>
          </a:p>
          <a:p>
            <a:r>
              <a:t>    ├── services/</a:t>
            </a:r>
          </a:p>
          <a:p>
            <a:r>
              <a:t>    ├── infrastructure/</a:t>
            </a:r>
          </a:p>
          <a:p>
            <a:r>
              <a:t>    ├── docker/</a:t>
            </a:r>
          </a:p>
          <a:p>
            <a:r>
              <a:t>    ├── scripts/</a:t>
            </a:r>
          </a:p>
          <a:p>
            <a:r>
              <a:t>    ├── docs/</a:t>
            </a:r>
          </a:p>
          <a:p>
            <a:r>
              <a:t>    └── tests/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Why These Folders Exist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LearningPath/ — structured training area; complete projects one at a time.</a:t>
            </a:r>
          </a:p>
          <a:p>
            <a:r>
              <a:t>Project-01-Foundation/slides/ — Project 1 presentation material.</a:t>
            </a:r>
          </a:p>
          <a:p>
            <a:r>
              <a:t>Project-01-Foundation/notes/ — explanations and personal learning notes.</a:t>
            </a:r>
          </a:p>
          <a:p>
            <a:r>
              <a:t>Project-01-Foundation/labs/ — hands-on exercises and experimental code.</a:t>
            </a:r>
          </a:p>
          <a:p>
            <a:r>
              <a:t>Webapp/ — the real application that grows as each concept is mastered.</a:t>
            </a:r>
          </a:p>
          <a:p>
            <a:r>
              <a:t>Webapp/frontend/ — future Next.js + React + TypeScript user interface.</a:t>
            </a:r>
          </a:p>
          <a:p>
            <a:r>
              <a:t>Webapp/services/ — backend microservices such as User, Vehicle and Booking.</a:t>
            </a:r>
          </a:p>
          <a:p>
            <a:r>
              <a:t>Webapp/infrastructure/ — Terraform, Kubernetes and cloud infrastructure.</a:t>
            </a:r>
          </a:p>
          <a:p>
            <a:r>
              <a:t>Images/ — shared architecture diagrams and project images.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7 — Protect the Repository with .gitignore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89920" cy="493776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>
                <a:highlight>
                  <a:srgbClr val="000080"/>
                </a:highlight>
              </a:rPr>
              <a:t># Python</a:t>
            </a:r>
          </a:p>
          <a:p>
            <a:r>
              <a:rPr dirty="0">
                <a:highlight>
                  <a:srgbClr val="000080"/>
                </a:highlight>
              </a:rPr>
              <a:t>__</a:t>
            </a:r>
            <a:r>
              <a:rPr dirty="0" err="1">
                <a:highlight>
                  <a:srgbClr val="000080"/>
                </a:highlight>
              </a:rPr>
              <a:t>pycache</a:t>
            </a:r>
            <a:r>
              <a:rPr dirty="0">
                <a:highlight>
                  <a:srgbClr val="000080"/>
                </a:highlight>
              </a:rPr>
              <a:t>__/</a:t>
            </a:r>
          </a:p>
          <a:p>
            <a:r>
              <a:rPr dirty="0">
                <a:highlight>
                  <a:srgbClr val="000080"/>
                </a:highlight>
              </a:rPr>
              <a:t>*.</a:t>
            </a:r>
            <a:r>
              <a:rPr dirty="0" err="1">
                <a:highlight>
                  <a:srgbClr val="000080"/>
                </a:highlight>
              </a:rPr>
              <a:t>py</a:t>
            </a:r>
            <a:r>
              <a:rPr dirty="0">
                <a:highlight>
                  <a:srgbClr val="000080"/>
                </a:highlight>
              </a:rPr>
              <a:t>[cod]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Virtual environments</a:t>
            </a:r>
          </a:p>
          <a:p>
            <a:r>
              <a:rPr dirty="0">
                <a:highlight>
                  <a:srgbClr val="000080"/>
                </a:highlight>
              </a:rPr>
              <a:t>.</a:t>
            </a:r>
            <a:r>
              <a:rPr dirty="0" err="1">
                <a:highlight>
                  <a:srgbClr val="000080"/>
                </a:highlight>
              </a:rPr>
              <a:t>venv</a:t>
            </a:r>
            <a:r>
              <a:rPr dirty="0">
                <a:highlight>
                  <a:srgbClr val="000080"/>
                </a:highlight>
              </a:rPr>
              <a:t>/</a:t>
            </a:r>
          </a:p>
          <a:p>
            <a:r>
              <a:rPr dirty="0" err="1">
                <a:highlight>
                  <a:srgbClr val="000080"/>
                </a:highlight>
              </a:rPr>
              <a:t>venv</a:t>
            </a:r>
            <a:r>
              <a:rPr dirty="0">
                <a:highlight>
                  <a:srgbClr val="000080"/>
                </a:highlight>
              </a:rPr>
              <a:t>/</a:t>
            </a:r>
          </a:p>
          <a:p>
            <a:r>
              <a:rPr dirty="0">
                <a:highlight>
                  <a:srgbClr val="000080"/>
                </a:highlight>
              </a:rPr>
              <a:t>env/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Secrets / environment variables</a:t>
            </a:r>
          </a:p>
          <a:p>
            <a:r>
              <a:rPr dirty="0">
                <a:highlight>
                  <a:srgbClr val="000080"/>
                </a:highlight>
              </a:rPr>
              <a:t>.env</a:t>
            </a:r>
          </a:p>
          <a:p>
            <a:r>
              <a:rPr dirty="0">
                <a:highlight>
                  <a:srgbClr val="000080"/>
                </a:highlight>
              </a:rPr>
              <a:t>.env.*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Microsoft Office temporary lock files</a:t>
            </a:r>
          </a:p>
          <a:p>
            <a:r>
              <a:rPr dirty="0">
                <a:highlight>
                  <a:srgbClr val="000080"/>
                </a:highlight>
              </a:rPr>
              <a:t>~$*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Terraform</a:t>
            </a:r>
          </a:p>
          <a:p>
            <a:r>
              <a:rPr dirty="0">
                <a:highlight>
                  <a:srgbClr val="000080"/>
                </a:highlight>
              </a:rPr>
              <a:t>.terraform/</a:t>
            </a:r>
          </a:p>
          <a:p>
            <a:r>
              <a:rPr dirty="0">
                <a:highlight>
                  <a:srgbClr val="000080"/>
                </a:highlight>
              </a:rPr>
              <a:t>*.</a:t>
            </a:r>
            <a:r>
              <a:rPr dirty="0" err="1">
                <a:highlight>
                  <a:srgbClr val="000080"/>
                </a:highlight>
              </a:rPr>
              <a:t>tfstate</a:t>
            </a:r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*.</a:t>
            </a:r>
            <a:r>
              <a:rPr dirty="0" err="1">
                <a:highlight>
                  <a:srgbClr val="000080"/>
                </a:highlight>
              </a:rPr>
              <a:t>tfstate</a:t>
            </a:r>
            <a:r>
              <a:rPr dirty="0">
                <a:highlight>
                  <a:srgbClr val="000080"/>
                </a:highlight>
              </a:rPr>
              <a:t>.*</a:t>
            </a:r>
          </a:p>
          <a:p>
            <a:r>
              <a:rPr dirty="0">
                <a:highlight>
                  <a:srgbClr val="000080"/>
                </a:highlight>
              </a:rPr>
              <a:t>*.</a:t>
            </a:r>
            <a:r>
              <a:rPr dirty="0" err="1">
                <a:highlight>
                  <a:srgbClr val="000080"/>
                </a:highlight>
              </a:rPr>
              <a:t>tfvars</a:t>
            </a:r>
            <a:endParaRPr dirty="0">
              <a:highlight>
                <a:srgbClr val="000080"/>
              </a:highlight>
            </a:endParaRP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Node / Next.js</a:t>
            </a:r>
          </a:p>
          <a:p>
            <a:r>
              <a:rPr dirty="0" err="1">
                <a:highlight>
                  <a:srgbClr val="000080"/>
                </a:highlight>
              </a:rPr>
              <a:t>node_modules</a:t>
            </a:r>
            <a:r>
              <a:rPr dirty="0">
                <a:highlight>
                  <a:srgbClr val="000080"/>
                </a:highlight>
              </a:rPr>
              <a:t>/</a:t>
            </a:r>
          </a:p>
          <a:p>
            <a:r>
              <a:rPr dirty="0">
                <a:highlight>
                  <a:srgbClr val="000080"/>
                </a:highlight>
              </a:rPr>
              <a:t>.next/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OS / logs</a:t>
            </a:r>
          </a:p>
          <a:p>
            <a:r>
              <a:rPr dirty="0" err="1">
                <a:highlight>
                  <a:srgbClr val="000080"/>
                </a:highlight>
              </a:rPr>
              <a:t>Thumbs.db</a:t>
            </a:r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.</a:t>
            </a:r>
            <a:r>
              <a:rPr dirty="0" err="1">
                <a:highlight>
                  <a:srgbClr val="000080"/>
                </a:highlight>
              </a:rPr>
              <a:t>DS_Store</a:t>
            </a:r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*.log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8–10 — Document the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LearningPath/Project-01-Foundation/README.md — objectives, steps, labs and progress for Project 1.</a:t>
            </a:r>
          </a:p>
          <a:p>
            <a:r>
              <a:t>LearningPath/Project-01-Foundation/notes/ — learning notes and explanations.</a:t>
            </a:r>
          </a:p>
          <a:p>
            <a:r>
              <a:t>Webapp/README.md — explains the actual application, technology stack and current status.</a:t>
            </a:r>
          </a:p>
          <a:p>
            <a:r>
              <a:t>Webapp/docs/architecture/architecture.md — defines service responsibilities and boundaries.</a:t>
            </a:r>
          </a:p>
          <a:p>
            <a:r>
              <a:t>Webapp/docs/architecture/ADR-001-microservices.md — records why microservices were selected and the tradeoffs.</a:t>
            </a:r>
          </a:p>
          <a:p>
            <a:r>
              <a:t>Architecture Decision Records (ADRs) preserve the reasoning behind important engineering choices.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11 — Add a Platform Health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89920" cy="420624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t>Webapp/</a:t>
            </a:r>
          </a:p>
          <a:p>
            <a:r>
              <a:t>└── services/</a:t>
            </a:r>
          </a:p>
          <a:p>
            <a:r>
              <a:t>    └── platform-health/</a:t>
            </a:r>
          </a:p>
          <a:p>
            <a:r>
              <a:t>        ├── main.py</a:t>
            </a:r>
          </a:p>
          <a:p>
            <a:r>
              <a:t>        └── requirements.txt</a:t>
            </a:r>
          </a:p>
          <a:p>
            <a:endParaRPr/>
          </a:p>
          <a:p>
            <a:r>
              <a:t># Purpose:</a:t>
            </a:r>
          </a:p>
          <a:p>
            <a:r>
              <a:t># First working service in the actual Webapp.</a:t>
            </a:r>
          </a:p>
          <a:p>
            <a:r>
              <a:t># Proves the local FastAPI environment works.</a:t>
            </a:r>
          </a:p>
          <a:p>
            <a:r>
              <a:t># Later, each real microservice exposes its own health endpoint.</a:t>
            </a:r>
          </a:p>
          <a:p>
            <a:endParaRPr/>
          </a:p>
          <a:p>
            <a:r>
              <a:t># Examples:</a:t>
            </a:r>
          </a:p>
          <a:p>
            <a:r>
              <a:t># user-service/health</a:t>
            </a:r>
          </a:p>
          <a:p>
            <a:r>
              <a:t># vehicle-service/health</a:t>
            </a:r>
          </a:p>
          <a:p>
            <a:r>
              <a:t># booking-service/health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12–14 — Virtual Environment +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80060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/>
              <a:t># From car-rental-microservices repository root</a:t>
            </a:r>
          </a:p>
          <a:p>
            <a:r>
              <a:rPr dirty="0"/>
              <a:t>cd Webapp\services\platform-health</a:t>
            </a:r>
          </a:p>
          <a:p>
            <a:endParaRPr dirty="0"/>
          </a:p>
          <a:p>
            <a:r>
              <a:rPr dirty="0"/>
              <a:t># Create an isolated Python environment for this service.</a:t>
            </a:r>
          </a:p>
          <a:p>
            <a:r>
              <a:rPr dirty="0"/>
              <a:t>python -m </a:t>
            </a:r>
            <a:r>
              <a:rPr dirty="0" err="1"/>
              <a:t>venv</a:t>
            </a:r>
            <a:r>
              <a:rPr dirty="0"/>
              <a:t> .</a:t>
            </a:r>
            <a:r>
              <a:rPr dirty="0" err="1"/>
              <a:t>venv</a:t>
            </a:r>
            <a:endParaRPr dirty="0"/>
          </a:p>
          <a:p>
            <a:endParaRPr dirty="0"/>
          </a:p>
          <a:p>
            <a:r>
              <a:rPr dirty="0"/>
              <a:t># Activate it in PowerShell.</a:t>
            </a:r>
          </a:p>
          <a:p>
            <a:r>
              <a:rPr lang="en-US" dirty="0"/>
              <a:t>source .</a:t>
            </a:r>
            <a:r>
              <a:rPr lang="en-US" dirty="0" err="1"/>
              <a:t>venv</a:t>
            </a:r>
            <a:r>
              <a:rPr lang="en-US" dirty="0"/>
              <a:t>/Scripts/activate</a:t>
            </a:r>
          </a:p>
          <a:p>
            <a:endParaRPr dirty="0"/>
          </a:p>
          <a:p>
            <a:r>
              <a:rPr dirty="0"/>
              <a:t># Upgrade pip and install the web framework/server.</a:t>
            </a:r>
          </a:p>
          <a:p>
            <a:r>
              <a:rPr dirty="0"/>
              <a:t>python -m pip install --upgrade pip</a:t>
            </a:r>
          </a:p>
          <a:p>
            <a:r>
              <a:rPr dirty="0"/>
              <a:t>pip install </a:t>
            </a:r>
            <a:r>
              <a:rPr dirty="0" err="1"/>
              <a:t>fastapi</a:t>
            </a:r>
            <a:r>
              <a:rPr dirty="0"/>
              <a:t> </a:t>
            </a:r>
            <a:r>
              <a:rPr dirty="0" err="1"/>
              <a:t>uvicorn</a:t>
            </a:r>
            <a:endParaRPr dirty="0"/>
          </a:p>
          <a:p>
            <a:endParaRPr dirty="0"/>
          </a:p>
          <a:p>
            <a:r>
              <a:rPr dirty="0"/>
              <a:t># Confirm installed packages.</a:t>
            </a:r>
          </a:p>
          <a:p>
            <a:r>
              <a:rPr dirty="0"/>
              <a:t>pip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15 — Build main.py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B68B2"/>
                </a:solidFill>
              </a:defRPr>
            </a:pPr>
            <a:r>
              <a:t>The comments explain what each part is doing.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72" y="969264"/>
            <a:ext cx="10789920" cy="50749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>
                <a:highlight>
                  <a:srgbClr val="000080"/>
                </a:highlight>
              </a:rPr>
              <a:t>from </a:t>
            </a:r>
            <a:r>
              <a:rPr dirty="0" err="1">
                <a:highlight>
                  <a:srgbClr val="000080"/>
                </a:highlight>
              </a:rPr>
              <a:t>fastapi</a:t>
            </a:r>
            <a:r>
              <a:rPr dirty="0">
                <a:highlight>
                  <a:srgbClr val="000080"/>
                </a:highlight>
              </a:rPr>
              <a:t> import </a:t>
            </a:r>
            <a:r>
              <a:rPr dirty="0" err="1">
                <a:highlight>
                  <a:srgbClr val="000080"/>
                </a:highlight>
              </a:rPr>
              <a:t>FastAPI</a:t>
            </a:r>
            <a:endParaRPr dirty="0">
              <a:highlight>
                <a:srgbClr val="000080"/>
              </a:highlight>
            </a:endParaRP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Create the </a:t>
            </a:r>
            <a:r>
              <a:rPr dirty="0" err="1">
                <a:highlight>
                  <a:srgbClr val="000080"/>
                </a:highlight>
              </a:rPr>
              <a:t>FastAPI</a:t>
            </a:r>
            <a:r>
              <a:rPr dirty="0">
                <a:highlight>
                  <a:srgbClr val="000080"/>
                </a:highlight>
              </a:rPr>
              <a:t> application object.</a:t>
            </a:r>
          </a:p>
          <a:p>
            <a:r>
              <a:rPr dirty="0">
                <a:highlight>
                  <a:srgbClr val="000080"/>
                </a:highlight>
              </a:rPr>
              <a:t># </a:t>
            </a:r>
            <a:r>
              <a:rPr dirty="0" err="1">
                <a:highlight>
                  <a:srgbClr val="000080"/>
                </a:highlight>
              </a:rPr>
              <a:t>Uvicorn</a:t>
            </a:r>
            <a:r>
              <a:rPr dirty="0">
                <a:highlight>
                  <a:srgbClr val="000080"/>
                </a:highlight>
              </a:rPr>
              <a:t> loads this object and exposes it over HTTP.</a:t>
            </a:r>
          </a:p>
          <a:p>
            <a:r>
              <a:rPr dirty="0">
                <a:highlight>
                  <a:srgbClr val="000080"/>
                </a:highlight>
              </a:rPr>
              <a:t>app = </a:t>
            </a:r>
            <a:r>
              <a:rPr dirty="0" err="1">
                <a:highlight>
                  <a:srgbClr val="000080"/>
                </a:highlight>
              </a:rPr>
              <a:t>FastAPI</a:t>
            </a:r>
            <a:r>
              <a:rPr dirty="0">
                <a:highlight>
                  <a:srgbClr val="000080"/>
                </a:highlight>
              </a:rPr>
              <a:t>(</a:t>
            </a:r>
          </a:p>
          <a:p>
            <a:r>
              <a:rPr dirty="0">
                <a:highlight>
                  <a:srgbClr val="000080"/>
                </a:highlight>
              </a:rPr>
              <a:t>    title="Car Rental Platform Health Service",</a:t>
            </a:r>
          </a:p>
          <a:p>
            <a:r>
              <a:rPr dirty="0">
                <a:highlight>
                  <a:srgbClr val="000080"/>
                </a:highlight>
              </a:rPr>
              <a:t>    description="Project 1 development environment test.",</a:t>
            </a:r>
          </a:p>
          <a:p>
            <a:r>
              <a:rPr dirty="0">
                <a:highlight>
                  <a:srgbClr val="000080"/>
                </a:highlight>
              </a:rPr>
              <a:t>    version="1.0.0",</a:t>
            </a:r>
          </a:p>
          <a:p>
            <a:r>
              <a:rPr dirty="0">
                <a:highlight>
                  <a:srgbClr val="000080"/>
                </a:highlight>
              </a:rPr>
              <a:t>)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GET / proves the API itself is responding.</a:t>
            </a:r>
          </a:p>
          <a:p>
            <a:r>
              <a:rPr dirty="0">
                <a:highlight>
                  <a:srgbClr val="000080"/>
                </a:highlight>
              </a:rPr>
              <a:t>@app.get("/")</a:t>
            </a:r>
          </a:p>
          <a:p>
            <a:r>
              <a:rPr dirty="0">
                <a:highlight>
                  <a:srgbClr val="000080"/>
                </a:highlight>
              </a:rPr>
              <a:t>def root():</a:t>
            </a:r>
          </a:p>
          <a:p>
            <a:r>
              <a:rPr dirty="0">
                <a:highlight>
                  <a:srgbClr val="000080"/>
                </a:highlight>
              </a:rPr>
              <a:t>    return {</a:t>
            </a:r>
          </a:p>
          <a:p>
            <a:r>
              <a:rPr dirty="0">
                <a:highlight>
                  <a:srgbClr val="000080"/>
                </a:highlight>
              </a:rPr>
              <a:t>        "application": "car-rental-microservices",</a:t>
            </a:r>
          </a:p>
          <a:p>
            <a:r>
              <a:rPr dirty="0">
                <a:highlight>
                  <a:srgbClr val="000080"/>
                </a:highlight>
              </a:rPr>
              <a:t>        "message": "Car Rental Platform API is running",</a:t>
            </a:r>
          </a:p>
          <a:p>
            <a:r>
              <a:rPr dirty="0">
                <a:highlight>
                  <a:srgbClr val="000080"/>
                </a:highlight>
              </a:rPr>
              <a:t>    }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GET /health proves the service is alive and responding.</a:t>
            </a:r>
          </a:p>
          <a:p>
            <a:r>
              <a:rPr dirty="0">
                <a:highlight>
                  <a:srgbClr val="000080"/>
                </a:highlight>
              </a:rPr>
              <a:t>@app.get("/health")</a:t>
            </a:r>
          </a:p>
          <a:p>
            <a:r>
              <a:rPr dirty="0">
                <a:highlight>
                  <a:srgbClr val="000080"/>
                </a:highlight>
              </a:rPr>
              <a:t>def </a:t>
            </a:r>
            <a:r>
              <a:rPr dirty="0" err="1">
                <a:highlight>
                  <a:srgbClr val="000080"/>
                </a:highlight>
              </a:rPr>
              <a:t>health_check</a:t>
            </a:r>
            <a:r>
              <a:rPr dirty="0">
                <a:highlight>
                  <a:srgbClr val="000080"/>
                </a:highlight>
              </a:rPr>
              <a:t>():</a:t>
            </a:r>
          </a:p>
          <a:p>
            <a:r>
              <a:rPr dirty="0">
                <a:highlight>
                  <a:srgbClr val="000080"/>
                </a:highlight>
              </a:rPr>
              <a:t>    return {</a:t>
            </a:r>
          </a:p>
          <a:p>
            <a:r>
              <a:rPr dirty="0">
                <a:highlight>
                  <a:srgbClr val="000080"/>
                </a:highlight>
              </a:rPr>
              <a:t>        "status": "healthy",</a:t>
            </a:r>
          </a:p>
          <a:p>
            <a:r>
              <a:rPr dirty="0">
                <a:highlight>
                  <a:srgbClr val="000080"/>
                </a:highlight>
              </a:rPr>
              <a:t>        "service": "platform-health",</a:t>
            </a:r>
          </a:p>
          <a:p>
            <a:r>
              <a:rPr dirty="0">
                <a:highlight>
                  <a:srgbClr val="000080"/>
                </a:highlight>
              </a:rPr>
              <a:t>   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 16 — Start the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89920" cy="34747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FFFFFF"/>
                </a:solidFill>
                <a:latin typeface="Consolas"/>
              </a:defRPr>
            </a:pPr>
            <a:r>
              <a:rPr dirty="0" err="1"/>
              <a:t>uvicorn</a:t>
            </a:r>
            <a:r>
              <a:rPr dirty="0"/>
              <a:t> </a:t>
            </a:r>
            <a:r>
              <a:rPr dirty="0" err="1"/>
              <a:t>main:app</a:t>
            </a:r>
            <a:r>
              <a:rPr dirty="0"/>
              <a:t> --reload</a:t>
            </a:r>
            <a:br>
              <a:rPr dirty="0"/>
            </a:br>
            <a:br>
              <a:rPr dirty="0"/>
            </a:br>
            <a:r>
              <a:rPr dirty="0"/>
              <a:t># Meaning:</a:t>
            </a:r>
            <a:br>
              <a:rPr dirty="0"/>
            </a:br>
            <a:r>
              <a:rPr dirty="0"/>
              <a:t># </a:t>
            </a:r>
            <a:r>
              <a:rPr dirty="0" err="1"/>
              <a:t>uvicorn</a:t>
            </a:r>
            <a:r>
              <a:rPr dirty="0"/>
              <a:t>  -&gt; ASGI web server</a:t>
            </a:r>
            <a:br>
              <a:rPr dirty="0"/>
            </a:br>
            <a:r>
              <a:rPr dirty="0"/>
              <a:t># main     -&gt; main.py</a:t>
            </a:r>
            <a:br>
              <a:rPr dirty="0"/>
            </a:br>
            <a:r>
              <a:rPr dirty="0"/>
              <a:t># app      -&gt; </a:t>
            </a:r>
            <a:r>
              <a:rPr dirty="0" err="1"/>
              <a:t>FastAPI</a:t>
            </a:r>
            <a:r>
              <a:rPr dirty="0"/>
              <a:t> object named "app"</a:t>
            </a:r>
            <a:br>
              <a:rPr dirty="0"/>
            </a:br>
            <a:r>
              <a:rPr dirty="0"/>
              <a:t># --reload -&gt; automatically restart after code changes</a:t>
            </a:r>
            <a:br>
              <a:rPr dirty="0"/>
            </a:br>
            <a:br>
              <a:rPr dirty="0"/>
            </a:br>
            <a:r>
              <a:rPr dirty="0"/>
              <a:t># Expected:</a:t>
            </a:r>
            <a:br>
              <a:rPr dirty="0"/>
            </a:br>
            <a:r>
              <a:rPr dirty="0"/>
              <a:t># </a:t>
            </a:r>
            <a:r>
              <a:rPr dirty="0" err="1"/>
              <a:t>Uvicorn</a:t>
            </a:r>
            <a:r>
              <a:rPr dirty="0"/>
              <a:t> running on http://127.0.0.1:8000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Keep this terminal running while testing the API.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17–18 — Test in Browser + Swagger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Open http://127.0.0.1:8000 — verify the root JSON response.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Open http://127.0.0.1:8000/health — verify status = healthy.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Open http://127.0.0.1:8000/docs — </a:t>
            </a:r>
            <a:r>
              <a:rPr dirty="0" err="1"/>
              <a:t>FastAPI</a:t>
            </a:r>
            <a:r>
              <a:rPr dirty="0"/>
              <a:t> automatically generates Swagger/</a:t>
            </a:r>
            <a:r>
              <a:rPr dirty="0" err="1"/>
              <a:t>OpenAPI</a:t>
            </a:r>
            <a:r>
              <a:rPr dirty="0"/>
              <a:t> documentation.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Select GET /health → Try it out → Execute.</a:t>
            </a:r>
          </a:p>
          <a:p>
            <a:pPr>
              <a:spcAft>
                <a:spcPts val="800"/>
              </a:spcAft>
              <a:defRPr sz="1900">
                <a:solidFill>
                  <a:srgbClr val="222222"/>
                </a:solidFill>
              </a:defRPr>
            </a:pPr>
            <a:r>
              <a:rPr dirty="0"/>
              <a:t>Expected HTTP status: 200 OK.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19–21 — CLI Test + Dependencies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89920" cy="365760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  <a:latin typeface="Consolas"/>
              </a:defRPr>
            </a:pPr>
            <a:r>
              <a:rPr dirty="0"/>
              <a:t># Test the endpoint without a browser.</a:t>
            </a:r>
            <a:br>
              <a:rPr dirty="0"/>
            </a:br>
            <a:r>
              <a:rPr dirty="0"/>
              <a:t>curl.exe http://127.0.0.1:8000/health</a:t>
            </a:r>
            <a:br>
              <a:rPr dirty="0"/>
            </a:br>
            <a:br>
              <a:rPr dirty="0"/>
            </a:br>
            <a:r>
              <a:rPr dirty="0"/>
              <a:t># Capture exact Python dependencies.</a:t>
            </a:r>
            <a:br>
              <a:rPr dirty="0"/>
            </a:br>
            <a:r>
              <a:rPr dirty="0"/>
              <a:t>pip freeze &gt; requirements.txt</a:t>
            </a:r>
            <a:br>
              <a:rPr dirty="0"/>
            </a:br>
            <a:br>
              <a:rPr dirty="0"/>
            </a:br>
            <a:r>
              <a:rPr dirty="0"/>
              <a:t># Stop </a:t>
            </a:r>
            <a:r>
              <a:rPr dirty="0" err="1"/>
              <a:t>Uvicorn</a:t>
            </a:r>
            <a:r>
              <a:rPr dirty="0"/>
              <a:t>.</a:t>
            </a:r>
            <a:br>
              <a:rPr dirty="0"/>
            </a:br>
            <a:r>
              <a:rPr dirty="0"/>
              <a:t>CTRL + C</a:t>
            </a:r>
            <a:br>
              <a:rPr dirty="0"/>
            </a:br>
            <a:br>
              <a:rPr dirty="0"/>
            </a:br>
            <a:r>
              <a:rPr dirty="0"/>
              <a:t># Leave the virtual environment.</a:t>
            </a:r>
            <a:br>
              <a:rPr dirty="0"/>
            </a:br>
            <a:r>
              <a:rPr dirty="0"/>
              <a:t>deactivate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requirements.txt allows another developer or build system to recreate the Python environment.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Steps 22–23 — First Git Checkpoint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389120"/>
          </a:xfrm>
          <a:prstGeom prst="roundRect">
            <a:avLst/>
          </a:prstGeom>
          <a:solidFill>
            <a:srgbClr val="1F2430"/>
          </a:solidFill>
          <a:ln>
            <a:solidFill>
              <a:srgbClr val="1F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dirty="0">
                <a:highlight>
                  <a:srgbClr val="000080"/>
                </a:highlight>
              </a:rPr>
              <a:t># Return to repository root from Webapp\services\platform-health</a:t>
            </a:r>
          </a:p>
          <a:p>
            <a:r>
              <a:rPr dirty="0">
                <a:highlight>
                  <a:srgbClr val="000080"/>
                </a:highlight>
              </a:rPr>
              <a:t>cd ..\..\..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Confirm repository root</a:t>
            </a:r>
          </a:p>
          <a:p>
            <a:r>
              <a:rPr dirty="0">
                <a:highlight>
                  <a:srgbClr val="000080"/>
                </a:highlight>
              </a:rPr>
              <a:t>git rev-parse --show-</a:t>
            </a:r>
            <a:r>
              <a:rPr dirty="0" err="1">
                <a:highlight>
                  <a:srgbClr val="000080"/>
                </a:highlight>
              </a:rPr>
              <a:t>toplevel</a:t>
            </a:r>
            <a:endParaRPr dirty="0">
              <a:highlight>
                <a:srgbClr val="000080"/>
              </a:highlight>
            </a:endParaRP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Verify .</a:t>
            </a:r>
            <a:r>
              <a:rPr dirty="0" err="1">
                <a:highlight>
                  <a:srgbClr val="000080"/>
                </a:highlight>
              </a:rPr>
              <a:t>venv</a:t>
            </a:r>
            <a:r>
              <a:rPr dirty="0">
                <a:highlight>
                  <a:srgbClr val="000080"/>
                </a:highlight>
              </a:rPr>
              <a:t> and Office temp files are NOT being tracked.</a:t>
            </a:r>
          </a:p>
          <a:p>
            <a:r>
              <a:rPr dirty="0">
                <a:highlight>
                  <a:srgbClr val="000080"/>
                </a:highlight>
              </a:rPr>
              <a:t>git status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Stage Project 1 learning material and the Webapp foundation intentionally.</a:t>
            </a:r>
          </a:p>
          <a:p>
            <a:r>
              <a:rPr dirty="0">
                <a:highlight>
                  <a:srgbClr val="000080"/>
                </a:highlight>
              </a:rPr>
              <a:t>git add </a:t>
            </a:r>
            <a:r>
              <a:rPr dirty="0" err="1">
                <a:highlight>
                  <a:srgbClr val="000080"/>
                </a:highlight>
              </a:rPr>
              <a:t>LearningPath</a:t>
            </a:r>
            <a:r>
              <a:rPr dirty="0">
                <a:highlight>
                  <a:srgbClr val="000080"/>
                </a:highlight>
              </a:rPr>
              <a:t>\Project-01-Foundation</a:t>
            </a:r>
          </a:p>
          <a:p>
            <a:r>
              <a:rPr dirty="0">
                <a:highlight>
                  <a:srgbClr val="000080"/>
                </a:highlight>
              </a:rPr>
              <a:t>git add Webapp</a:t>
            </a:r>
          </a:p>
          <a:p>
            <a:r>
              <a:rPr dirty="0">
                <a:highlight>
                  <a:srgbClr val="000080"/>
                </a:highlight>
              </a:rPr>
              <a:t>git add .</a:t>
            </a:r>
            <a:r>
              <a:rPr dirty="0" err="1">
                <a:highlight>
                  <a:srgbClr val="000080"/>
                </a:highlight>
              </a:rPr>
              <a:t>gitignore</a:t>
            </a:r>
            <a:r>
              <a:rPr dirty="0">
                <a:highlight>
                  <a:srgbClr val="000080"/>
                </a:highlight>
              </a:rPr>
              <a:t> README.md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Review exactly what will be committed.</a:t>
            </a:r>
          </a:p>
          <a:p>
            <a:r>
              <a:rPr dirty="0">
                <a:highlight>
                  <a:srgbClr val="000080"/>
                </a:highlight>
              </a:rPr>
              <a:t>git status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Create the Project 1 checkpoint.</a:t>
            </a:r>
          </a:p>
          <a:p>
            <a:r>
              <a:rPr dirty="0">
                <a:highlight>
                  <a:srgbClr val="000080"/>
                </a:highlight>
              </a:rPr>
              <a:t>git commit -m "Complete Project 01 - microservices foundation"</a:t>
            </a:r>
          </a:p>
          <a:p>
            <a:endParaRPr dirty="0">
              <a:highlight>
                <a:srgbClr val="000080"/>
              </a:highlight>
            </a:endParaRPr>
          </a:p>
          <a:p>
            <a:r>
              <a:rPr dirty="0">
                <a:highlight>
                  <a:srgbClr val="000080"/>
                </a:highlight>
              </a:rPr>
              <a:t># Standardize the primary branch name.</a:t>
            </a:r>
          </a:p>
          <a:p>
            <a:r>
              <a:rPr dirty="0">
                <a:highlight>
                  <a:srgbClr val="000080"/>
                </a:highlight>
              </a:rPr>
              <a:t>git branch -M main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A8768-6511-7394-7CB3-E2471674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EBEFBF-4022-2DB7-38F7-A2B6F7B81034}"/>
              </a:ext>
            </a:extLst>
          </p:cNvPr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1 Completion Checklist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50EF05-774B-5349-FDCC-088AB5ABCE51}"/>
              </a:ext>
            </a:extLst>
          </p:cNvPr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C83A4-A863-D059-7ABA-9A4828BE4400}"/>
              </a:ext>
            </a:extLst>
          </p:cNvPr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B027B-AC35-9F20-9AF4-3A6717A0B7EE}"/>
              </a:ext>
            </a:extLst>
          </p:cNvPr>
          <p:cNvSpPr txBox="1"/>
          <p:nvPr/>
        </p:nvSpPr>
        <p:spPr>
          <a:xfrm>
            <a:off x="731520" y="1417320"/>
            <a:ext cx="1078992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Confirm we are on the correct branch.</a:t>
            </a:r>
          </a:p>
          <a:p>
            <a:r>
              <a:rPr lang="en-US" dirty="0"/>
              <a:t>git branch --show-current</a:t>
            </a:r>
          </a:p>
          <a:p>
            <a:endParaRPr lang="en-US" dirty="0"/>
          </a:p>
          <a:p>
            <a:r>
              <a:rPr lang="en-US" dirty="0"/>
              <a:t># Review modified, untracked and ignored files.</a:t>
            </a:r>
          </a:p>
          <a:p>
            <a:r>
              <a:rPr lang="en-US" dirty="0"/>
              <a:t>git status --ignored</a:t>
            </a:r>
          </a:p>
          <a:p>
            <a:endParaRPr lang="en-US" dirty="0"/>
          </a:p>
          <a:p>
            <a:r>
              <a:rPr lang="en-US" dirty="0"/>
              <a:t># Verify Python virtual environment files are ignored.</a:t>
            </a:r>
          </a:p>
          <a:p>
            <a:r>
              <a:rPr lang="en-US" dirty="0"/>
              <a:t>git check-ignore -v Webapp/services/platform-health/.</a:t>
            </a:r>
            <a:r>
              <a:rPr lang="en-US" dirty="0" err="1"/>
              <a:t>venv</a:t>
            </a:r>
            <a:r>
              <a:rPr lang="en-US" dirty="0"/>
              <a:t>/</a:t>
            </a:r>
            <a:r>
              <a:rPr lang="en-US" dirty="0" err="1"/>
              <a:t>pyvenv.cfg</a:t>
            </a:r>
            <a:endParaRPr lang="en-US" dirty="0"/>
          </a:p>
          <a:p>
            <a:endParaRPr lang="en-US" dirty="0"/>
          </a:p>
          <a:p>
            <a:r>
              <a:rPr lang="en-US" dirty="0"/>
              <a:t># Verify Python cache files are ignored.</a:t>
            </a:r>
          </a:p>
          <a:p>
            <a:r>
              <a:rPr lang="en-US" dirty="0"/>
              <a:t>git check-ignore -v Webapp/services/platform-health/__</a:t>
            </a:r>
            <a:r>
              <a:rPr lang="en-US" dirty="0" err="1"/>
              <a:t>pycache</a:t>
            </a:r>
            <a:r>
              <a:rPr lang="en-US" dirty="0"/>
              <a:t>__/main.cpython-313.pyc</a:t>
            </a:r>
          </a:p>
          <a:p>
            <a:endParaRPr lang="en-US" dirty="0"/>
          </a:p>
          <a:p>
            <a:r>
              <a:rPr lang="en-US" dirty="0"/>
              <a:t># Stage only the Project 1 learning material.</a:t>
            </a:r>
          </a:p>
          <a:p>
            <a:r>
              <a:rPr lang="en-US" dirty="0"/>
              <a:t>git add </a:t>
            </a:r>
            <a:r>
              <a:rPr lang="en-US" dirty="0" err="1"/>
              <a:t>LearningPath</a:t>
            </a:r>
            <a:r>
              <a:rPr lang="en-US" dirty="0"/>
              <a:t>/Project-01-Foundation</a:t>
            </a:r>
          </a:p>
          <a:p>
            <a:endParaRPr lang="en-US" dirty="0"/>
          </a:p>
          <a:p>
            <a:r>
              <a:rPr lang="en-US" dirty="0"/>
              <a:t># Stage the Platform Health service.</a:t>
            </a:r>
          </a:p>
          <a:p>
            <a:r>
              <a:rPr lang="en-US" dirty="0"/>
              <a:t>git add Webapp/services/platform-health</a:t>
            </a:r>
          </a:p>
          <a:p>
            <a:endParaRPr lang="en-US" dirty="0"/>
          </a:p>
          <a:p>
            <a:r>
              <a:rPr lang="en-US" dirty="0"/>
              <a:t># Review exactly what is staged.</a:t>
            </a:r>
          </a:p>
          <a:p>
            <a:r>
              <a:rPr lang="en-US" dirty="0"/>
              <a:t>git status</a:t>
            </a:r>
          </a:p>
          <a:p>
            <a:endParaRPr lang="en-US" dirty="0"/>
          </a:p>
          <a:p>
            <a:r>
              <a:rPr lang="en-US" dirty="0"/>
              <a:t># Optional: list only the files that will be committed.</a:t>
            </a:r>
          </a:p>
          <a:p>
            <a:r>
              <a:rPr lang="en-US" dirty="0"/>
              <a:t>git diff --cached --name-only</a:t>
            </a:r>
          </a:p>
          <a:p>
            <a:endParaRPr lang="en-US" dirty="0"/>
          </a:p>
          <a:p>
            <a:r>
              <a:rPr lang="en-US" dirty="0"/>
              <a:t># Create the Project 1 checkpoint.</a:t>
            </a:r>
          </a:p>
          <a:p>
            <a:r>
              <a:rPr lang="en-US" dirty="0"/>
              <a:t>git commit -m "Complete Project 01 - microservices foundation"</a:t>
            </a:r>
          </a:p>
          <a:p>
            <a:endParaRPr lang="en-US" dirty="0"/>
          </a:p>
          <a:p>
            <a:r>
              <a:rPr lang="en-US" dirty="0"/>
              <a:t># Verify the commit exists on main.</a:t>
            </a:r>
          </a:p>
          <a:p>
            <a:r>
              <a:rPr lang="en-US" dirty="0"/>
              <a:t>git log --</a:t>
            </a:r>
            <a:r>
              <a:rPr lang="en-US" dirty="0" err="1"/>
              <a:t>oneline</a:t>
            </a:r>
            <a:r>
              <a:rPr lang="en-US" dirty="0"/>
              <a:t> --decorate -5</a:t>
            </a:r>
          </a:p>
          <a:p>
            <a:endParaRPr lang="en-US" dirty="0"/>
          </a:p>
          <a:p>
            <a:r>
              <a:rPr lang="en-US" dirty="0"/>
              <a:t># Confirm there are no remaining changes.</a:t>
            </a:r>
          </a:p>
          <a:p>
            <a:r>
              <a:rPr lang="en-US" dirty="0"/>
              <a:t>git status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225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Break/Fix Exercises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Visit /wrong-url → expect HTTP 404.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Stop Uvicorn and visit /health → expect a connection failure.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Restart Uvicorn → API should become available again.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Change health status from healthy to testing and save → --reload should restart the service automatically.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Run the request again from /docs.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Run curl.exe against /health.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</a:defRPr>
            </a:pPr>
            <a:r>
              <a:t>Run git status and explain every changed/untracked file you see.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1 Completion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Git, Python and VS Code work.</a:t>
            </a:r>
          </a:p>
          <a:p>
            <a:r>
              <a:rPr dirty="0"/>
              <a:t>car-rental-microservices is confirmed as the Git repository root.</a:t>
            </a:r>
          </a:p>
          <a:p>
            <a:r>
              <a:rPr dirty="0" err="1"/>
              <a:t>LearningPath</a:t>
            </a:r>
            <a:r>
              <a:rPr dirty="0"/>
              <a:t>/Project-01-Foundation contains slides, notes and labs.</a:t>
            </a:r>
          </a:p>
          <a:p>
            <a:r>
              <a:rPr dirty="0"/>
              <a:t>Webapp/ is separated from the learning material.</a:t>
            </a:r>
          </a:p>
          <a:p>
            <a:r>
              <a:rPr dirty="0"/>
              <a:t>.</a:t>
            </a:r>
            <a:r>
              <a:rPr dirty="0" err="1"/>
              <a:t>gitignore</a:t>
            </a:r>
            <a:r>
              <a:rPr dirty="0"/>
              <a:t> excludes virtual environments, secrets and Office temporary files.</a:t>
            </a:r>
          </a:p>
          <a:p>
            <a:r>
              <a:rPr dirty="0"/>
              <a:t>Architecture documentation and ADR exist.</a:t>
            </a:r>
          </a:p>
          <a:p>
            <a:r>
              <a:rPr dirty="0"/>
              <a:t>Virtual environment activates successfully.</a:t>
            </a:r>
          </a:p>
          <a:p>
            <a:r>
              <a:rPr dirty="0" err="1"/>
              <a:t>FastAPI</a:t>
            </a:r>
            <a:r>
              <a:rPr dirty="0"/>
              <a:t> and </a:t>
            </a:r>
            <a:r>
              <a:rPr dirty="0" err="1"/>
              <a:t>Uvicorn</a:t>
            </a:r>
            <a:r>
              <a:rPr dirty="0"/>
              <a:t> install successfully.</a:t>
            </a:r>
          </a:p>
          <a:p>
            <a:r>
              <a:rPr dirty="0"/>
              <a:t>/ and /health return HTTP 200.</a:t>
            </a:r>
          </a:p>
          <a:p>
            <a:r>
              <a:rPr dirty="0"/>
              <a:t>/docs works and can execute GET /health.</a:t>
            </a:r>
          </a:p>
          <a:p>
            <a:r>
              <a:rPr dirty="0"/>
              <a:t>curl.exe successfully calls the API.</a:t>
            </a:r>
          </a:p>
          <a:p>
            <a:r>
              <a:rPr dirty="0"/>
              <a:t>requirements.txt exists.</a:t>
            </a:r>
          </a:p>
          <a:p>
            <a:r>
              <a:rPr dirty="0"/>
              <a:t>Project 1 Git commit succeeds on main.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Comes Next — Project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510528"/>
            <a:ext cx="11064240" cy="18288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User Request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12694" y="213055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58998" y="182880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FastAPI Router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48732" y="213055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95036" y="182880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Pydantic Validation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4771" y="213055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31075" y="182880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User Logic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20809" y="2130552"/>
            <a:ext cx="128015" cy="292608"/>
          </a:xfrm>
          <a:prstGeom prst="rightArrow">
            <a:avLst/>
          </a:prstGeom>
          <a:solidFill>
            <a:srgbClr val="2B6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67113" y="1828800"/>
            <a:ext cx="1971446" cy="914400"/>
          </a:xfrm>
          <a:prstGeom prst="roundRect">
            <a:avLst/>
          </a:prstGeom>
          <a:solidFill>
            <a:srgbClr val="F4F7FB"/>
          </a:solidFill>
          <a:ln>
            <a:solidFill>
              <a:srgbClr val="2B6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 the first real microservice: User Service.</a:t>
            </a:r>
          </a:p>
          <a:p>
            <a:r>
              <a:t>Create the Project 2 learning material under LearningPath/Project-02-User-Service/.</a:t>
            </a:r>
          </a:p>
          <a:p>
            <a:r>
              <a:t>Implement the production-style service under Webapp/services/user-service/.</a:t>
            </a:r>
          </a:p>
          <a:p>
            <a:r>
              <a:t>Create routers, request/response schemas and validation.</a:t>
            </a:r>
          </a:p>
          <a:p>
            <a:r>
              <a:t>Learn REST endpoint design and HTTP status codes.</a:t>
            </a:r>
          </a:p>
          <a:p>
            <a:r>
              <a:t>Test with Swagger and curl before introducing PostgreSQL.</a:t>
            </a:r>
          </a:p>
          <a:p>
            <a:r>
              <a:t>Keep code heavily commented so every concept is understandable.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2081</Words>
  <Application>Microsoft Office PowerPoint</Application>
  <PresentationFormat>Widescreen</PresentationFormat>
  <Paragraphs>337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bayo adewunmi</cp:lastModifiedBy>
  <cp:revision>4</cp:revision>
  <dcterms:created xsi:type="dcterms:W3CDTF">2013-01-27T09:14:16Z</dcterms:created>
  <dcterms:modified xsi:type="dcterms:W3CDTF">2026-10-02T02:47:30Z</dcterms:modified>
  <cp:category/>
</cp:coreProperties>
</file>